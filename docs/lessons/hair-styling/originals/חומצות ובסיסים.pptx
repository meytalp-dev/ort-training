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removePersonalInfoOnSave="1" autoCompressPictures="0">
  <p:sldMasterIdLst>
    <p:sldMasterId id="214748366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7" r:id="rId6"/>
    <p:sldId id="265" r:id="rId7"/>
    <p:sldId id="264" r:id="rId8"/>
    <p:sldId id="259" r:id="rId9"/>
    <p:sldId id="266" r:id="rId10"/>
    <p:sldId id="269" r:id="rId11"/>
    <p:sldId id="270" r:id="rId12"/>
    <p:sldId id="271" r:id="rId13"/>
    <p:sldId id="260" r:id="rId14"/>
  </p:sldIdLst>
  <p:sldSz cx="12192000" cy="6858000"/>
  <p:notesSz cx="6858000" cy="9144000"/>
  <p:defaultTextStyle>
    <a:defPPr algn="r" rtl="1">
      <a:defRPr lang="he-il"/>
    </a:defPPr>
    <a:lvl1pPr marL="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05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iconchunking_colorful2">
  <dgm:title val="iconchunking_colorful2"/>
  <dgm:desc val="iconchunking_colorful2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05/8/layout/cycle2" loCatId="cycle" qsTypeId="urn:microsoft.com/office/officeart/2005/8/quickstyle/simple4" qsCatId="simple" csTypeId="urn:microsoft.com/office/officeart/2005/8/colors/iconchunking_colorful2" csCatId="other" phldr="1"/>
      <dgm:spPr/>
      <dgm:t>
        <a:bodyPr/>
        <a:lstStyle/>
        <a:p>
          <a:pPr rtl="1"/>
          <a:endParaRPr lang="he-IL"/>
        </a:p>
      </dgm:t>
    </dgm:pt>
    <dgm:pt modelId="{CE7E551F-34B9-4B6A-8DF2-AC3F4F469DB8}">
      <dgm:prSet custT="1"/>
      <dgm:spPr/>
      <dgm:t>
        <a:bodyPr/>
        <a:lstStyle/>
        <a:p>
          <a:pPr rtl="1">
            <a:lnSpc>
              <a:spcPct val="150000"/>
            </a:lnSpc>
          </a:pPr>
          <a:r>
            <a:rPr lang="he-IL" sz="1400" b="1" dirty="0" smtClean="0">
              <a:solidFill>
                <a:schemeClr val="tx1"/>
              </a:solidFill>
            </a:rPr>
            <a:t>תרכובת חומצית: תרכובת שמשחררת קטיון +</a:t>
          </a:r>
          <a:r>
            <a:rPr lang="en-US" sz="1400" b="1" dirty="0" smtClean="0">
              <a:solidFill>
                <a:schemeClr val="tx1"/>
              </a:solidFill>
            </a:rPr>
            <a:t> h </a:t>
          </a:r>
          <a:r>
            <a:rPr lang="he-IL" sz="1400" b="1" dirty="0" smtClean="0">
              <a:solidFill>
                <a:schemeClr val="tx1"/>
              </a:solidFill>
            </a:rPr>
            <a:t>בסביבה מימית.
(קטיון- יון שמטענו החשמלי חיובי מכונה קטיון).
תכונות החומצה -
טעמה של החומצה חמוץ.
חומצה גורמת להאדמת נייר לקמוס כחול.
חומצות רבות נמצאות בשימוש בבית ובעבודה. </a:t>
          </a:r>
        </a:p>
        <a:p>
          <a:pPr rtl="1">
            <a:lnSpc>
              <a:spcPct val="150000"/>
            </a:lnSpc>
          </a:pPr>
          <a:r>
            <a:rPr lang="he-IL" sz="1400" b="1" dirty="0" smtClean="0">
              <a:solidFill>
                <a:schemeClr val="tx1"/>
              </a:solidFill>
            </a:rPr>
            <a:t>בבית אנו משתמשים בלימון, בחומץ יין, חומץ הדרים, בחומצות מלח לניקוי. </a:t>
          </a:r>
        </a:p>
        <a:p>
          <a:pPr rtl="1">
            <a:lnSpc>
              <a:spcPct val="150000"/>
            </a:lnSpc>
          </a:pPr>
          <a:r>
            <a:rPr lang="he-IL" sz="1400" b="1" dirty="0" smtClean="0">
              <a:solidFill>
                <a:schemeClr val="tx1"/>
              </a:solidFill>
            </a:rPr>
            <a:t>במספרה -מי נטרול, תכשירי חמצון, תמיסות שטיפת שיער, משקם צבע, משקם סלסול, שמפו על בסיס צמחי, ומסכות שיער.</a:t>
          </a:r>
          <a:endParaRPr lang="he-IL" sz="1400" b="1" dirty="0">
            <a:solidFill>
              <a:schemeClr val="tx1"/>
            </a:solidFill>
          </a:endParaRPr>
        </a:p>
      </dgm:t>
    </dgm:pt>
    <dgm:pt modelId="{8408605E-9EFD-4283-98BB-6626C9FA8501}" type="parTrans" cxnId="{DB1A5EA1-0993-4695-9AF6-1BA40F6FAF57}">
      <dgm:prSet/>
      <dgm:spPr/>
      <dgm:t>
        <a:bodyPr/>
        <a:lstStyle/>
        <a:p>
          <a:pPr rtl="1"/>
          <a:endParaRPr lang="he-IL"/>
        </a:p>
      </dgm:t>
    </dgm:pt>
    <dgm:pt modelId="{A11AFCA6-88B3-4ED3-AE40-002791A4554F}" type="sibTrans" cxnId="{DB1A5EA1-0993-4695-9AF6-1BA40F6FAF57}">
      <dgm:prSet/>
      <dgm:spPr/>
      <dgm:t>
        <a:bodyPr/>
        <a:lstStyle/>
        <a:p>
          <a:pPr rtl="1"/>
          <a:endParaRPr lang="he-IL"/>
        </a:p>
      </dgm:t>
    </dgm:pt>
    <dgm:pt modelId="{CFF0578C-D7F7-460F-9A5B-2648300DC722}" type="pres">
      <dgm:prSet presAssocID="{C7720856-93F0-4CC7-B7FD-2466914A11D4}" presName="cycle" presStyleCnt="0">
        <dgm:presLayoutVars>
          <dgm:dir val="rev"/>
          <dgm:resizeHandles val="exact"/>
        </dgm:presLayoutVars>
      </dgm:prSet>
      <dgm:spPr/>
    </dgm:pt>
    <dgm:pt modelId="{9582059E-CAAF-4A77-8C3D-411F68943E3D}" type="pres">
      <dgm:prSet presAssocID="{CE7E551F-34B9-4B6A-8DF2-AC3F4F469DB8}" presName="node" presStyleLbl="node1" presStyleIdx="0" presStyleCnt="1" custScaleX="158851" custRadScaleRad="98768" custRadScaleInc="-2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DB1A5EA1-0993-4695-9AF6-1BA40F6FAF57}" srcId="{C7720856-93F0-4CC7-B7FD-2466914A11D4}" destId="{CE7E551F-34B9-4B6A-8DF2-AC3F4F469DB8}" srcOrd="0" destOrd="0" parTransId="{8408605E-9EFD-4283-98BB-6626C9FA8501}" sibTransId="{A11AFCA6-88B3-4ED3-AE40-002791A4554F}"/>
    <dgm:cxn modelId="{E1D43BEC-5EB2-49B2-8D38-7EF55B5D417C}" type="presOf" srcId="{CE7E551F-34B9-4B6A-8DF2-AC3F4F469DB8}" destId="{9582059E-CAAF-4A77-8C3D-411F68943E3D}" srcOrd="0" destOrd="0" presId="urn:microsoft.com/office/officeart/2005/8/layout/cycle2"/>
    <dgm:cxn modelId="{FF3D82D2-C4A7-4774-8B1C-248DC3678276}" type="presOf" srcId="{C7720856-93F0-4CC7-B7FD-2466914A11D4}" destId="{CFF0578C-D7F7-460F-9A5B-2648300DC722}" srcOrd="0" destOrd="0" presId="urn:microsoft.com/office/officeart/2005/8/layout/cycle2"/>
    <dgm:cxn modelId="{0028E713-7162-449F-B1B2-501AEBFCF87A}" type="presParOf" srcId="{CFF0578C-D7F7-460F-9A5B-2648300DC722}" destId="{9582059E-CAAF-4A77-8C3D-411F68943E3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05/8/layout/cycle2" loCatId="cycle" qsTypeId="urn:microsoft.com/office/officeart/2005/8/quickstyle/simple4" qsCatId="simple" csTypeId="urn:microsoft.com/office/officeart/2005/8/colors/colorful3" csCatId="colorful" phldr="1"/>
      <dgm:spPr/>
    </dgm:pt>
    <dgm:pt modelId="{BFF9359E-E9B1-4B73-BACC-2C7988765B16}">
      <dgm:prSet phldrT="[Text]" custT="1"/>
      <dgm:spPr/>
      <dgm:t>
        <a:bodyPr rtlCol="1"/>
        <a:lstStyle/>
        <a:p>
          <a:pPr rtl="1">
            <a:lnSpc>
              <a:spcPct val="150000"/>
            </a:lnSpc>
            <a:defRPr cap="all"/>
          </a:pPr>
          <a:r>
            <a:rPr lang="he-IL" sz="1100" b="1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תרכובת בסיסית:</a:t>
          </a:r>
        </a:p>
        <a:p>
          <a:pPr rtl="1">
            <a:lnSpc>
              <a:spcPct val="150000"/>
            </a:lnSpc>
            <a:defRPr cap="all"/>
          </a:pPr>
          <a:r>
            <a:rPr lang="he-IL" sz="1100" b="1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תרכובת שמשחררת </a:t>
          </a:r>
          <a:r>
            <a:rPr lang="he-IL" sz="1100" b="1" noProof="0" dirty="0" err="1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אניוני</a:t>
          </a:r>
          <a:r>
            <a:rPr lang="he-IL" sz="1100" b="1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</a:t>
          </a:r>
          <a:r>
            <a:rPr lang="en-US" sz="1100" b="1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oh </a:t>
          </a:r>
          <a:r>
            <a:rPr lang="he-IL" sz="1100" b="1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בסביבה מימית.
(אניון - יון בעל מטען חשמלי שלילי מכונה אניון).
תכונות הבסיס-
טעמו של הבסיס מר.
נייר לקמוס ורוד מכחיל בנוכחות בסיס.
הבסיסים נותנים תחושת סבון במגע יד עם תמיסותיהם.
בעבודה היום-יומית במספרה משמשים הבסיסים בתכשירים רבים כגון:
בתכשירי צביעת שיער לבלונד, בצבעי חמצון, בתכשירי חפיפה, בתכשירים להסרת שיער מיותר ובתכשירי החלקה וסלסול.</a:t>
          </a:r>
          <a:endParaRPr lang="he-IL" sz="1100" b="1" noProof="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E0A40FA-1B79-4089-8B9A-3BA22865FE4E}" type="parTrans" cxnId="{516EC545-1971-48B3-978C-4756FCDCCFD9}">
      <dgm:prSet/>
      <dgm:spPr/>
      <dgm:t>
        <a:bodyPr rtlCol="1"/>
        <a:lstStyle/>
        <a:p>
          <a:pPr rtl="1"/>
          <a:endParaRPr lang="he-IL" sz="1800" b="1" noProof="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CEF1965-C516-4C44-BAE3-2FA3F5116930}" type="sibTrans" cxnId="{516EC545-1971-48B3-978C-4756FCDCCFD9}">
      <dgm:prSet custT="1"/>
      <dgm:spPr/>
      <dgm:t>
        <a:bodyPr rtlCol="1"/>
        <a:lstStyle/>
        <a:p>
          <a:pPr rtl="1"/>
          <a:endParaRPr lang="he-IL" sz="1000" b="1" noProof="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FF0578C-D7F7-460F-9A5B-2648300DC722}" type="pres">
      <dgm:prSet presAssocID="{C7720856-93F0-4CC7-B7FD-2466914A11D4}" presName="cycle" presStyleCnt="0">
        <dgm:presLayoutVars>
          <dgm:dir val="rev"/>
          <dgm:resizeHandles val="exact"/>
        </dgm:presLayoutVars>
      </dgm:prSet>
      <dgm:spPr/>
    </dgm:pt>
    <dgm:pt modelId="{50F60CD2-A400-4158-B8EA-358853D7B1C9}" type="pres">
      <dgm:prSet presAssocID="{BFF9359E-E9B1-4B73-BACC-2C7988765B16}" presName="node" presStyleLbl="node1" presStyleIdx="0" presStyleCnt="1" custScaleX="159006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A1A031E7-A00E-44B1-A212-67C595705CD6}" type="presOf" srcId="{BFF9359E-E9B1-4B73-BACC-2C7988765B16}" destId="{50F60CD2-A400-4158-B8EA-358853D7B1C9}" srcOrd="0" destOrd="0" presId="urn:microsoft.com/office/officeart/2005/8/layout/cycle2"/>
    <dgm:cxn modelId="{516EC545-1971-48B3-978C-4756FCDCCFD9}" srcId="{C7720856-93F0-4CC7-B7FD-2466914A11D4}" destId="{BFF9359E-E9B1-4B73-BACC-2C7988765B16}" srcOrd="0" destOrd="0" parTransId="{6E0A40FA-1B79-4089-8B9A-3BA22865FE4E}" sibTransId="{1CEF1965-C516-4C44-BAE3-2FA3F5116930}"/>
    <dgm:cxn modelId="{FF3D82D2-C4A7-4774-8B1C-248DC3678276}" type="presOf" srcId="{C7720856-93F0-4CC7-B7FD-2466914A11D4}" destId="{CFF0578C-D7F7-460F-9A5B-2648300DC722}" srcOrd="0" destOrd="0" presId="urn:microsoft.com/office/officeart/2005/8/layout/cycle2"/>
    <dgm:cxn modelId="{C0E34703-C6B3-4A5D-9892-6A00CCA18C50}" type="presParOf" srcId="{CFF0578C-D7F7-460F-9A5B-2648300DC722}" destId="{50F60CD2-A400-4158-B8EA-358853D7B1C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2059E-CAAF-4A77-8C3D-411F68943E3D}">
      <dsp:nvSpPr>
        <dsp:cNvPr id="0" name=""/>
        <dsp:cNvSpPr/>
      </dsp:nvSpPr>
      <dsp:spPr>
        <a:xfrm>
          <a:off x="0" y="247"/>
          <a:ext cx="7202262" cy="453397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1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he-IL" sz="1400" b="1" kern="1200" dirty="0" smtClean="0">
              <a:solidFill>
                <a:schemeClr val="tx1"/>
              </a:solidFill>
            </a:rPr>
            <a:t>תרכובת חומצית: תרכובת שמשחררת קטיון +</a:t>
          </a:r>
          <a:r>
            <a:rPr lang="en-US" sz="1400" b="1" kern="1200" dirty="0" smtClean="0">
              <a:solidFill>
                <a:schemeClr val="tx1"/>
              </a:solidFill>
            </a:rPr>
            <a:t> h </a:t>
          </a:r>
          <a:r>
            <a:rPr lang="he-IL" sz="1400" b="1" kern="1200" dirty="0" smtClean="0">
              <a:solidFill>
                <a:schemeClr val="tx1"/>
              </a:solidFill>
            </a:rPr>
            <a:t>בסביבה מימית.
(קטיון- יון שמטענו החשמלי חיובי מכונה קטיון).
תכונות החומצה -
טעמה של החומצה חמוץ.
חומצה גורמת להאדמת נייר לקמוס כחול.
חומצות רבות נמצאות בשימוש בבית ובעבודה. </a:t>
          </a:r>
        </a:p>
        <a:p>
          <a:pPr lvl="0" algn="ctr" defTabSz="622300" rtl="1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he-IL" sz="1400" b="1" kern="1200" dirty="0" smtClean="0">
              <a:solidFill>
                <a:schemeClr val="tx1"/>
              </a:solidFill>
            </a:rPr>
            <a:t>בבית אנו משתמשים בלימון, בחומץ יין, חומץ הדרים, בחומצות מלח לניקוי. </a:t>
          </a:r>
        </a:p>
        <a:p>
          <a:pPr lvl="0" algn="ctr" defTabSz="622300" rtl="1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he-IL" sz="1400" b="1" kern="1200" dirty="0" smtClean="0">
              <a:solidFill>
                <a:schemeClr val="tx1"/>
              </a:solidFill>
            </a:rPr>
            <a:t>במספרה -מי נטרול, תכשירי חמצון, תמיסות שטיפת שיער, משקם צבע, משקם סלסול, שמפו על בסיס צמחי, ומסכות שיער.</a:t>
          </a:r>
          <a:endParaRPr lang="he-IL" sz="1400" b="1" kern="1200" dirty="0">
            <a:solidFill>
              <a:schemeClr val="tx1"/>
            </a:solidFill>
          </a:endParaRPr>
        </a:p>
      </dsp:txBody>
      <dsp:txXfrm>
        <a:off x="1054747" y="664232"/>
        <a:ext cx="5092768" cy="3206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60CD2-A400-4158-B8EA-358853D7B1C9}">
      <dsp:nvSpPr>
        <dsp:cNvPr id="0" name=""/>
        <dsp:cNvSpPr/>
      </dsp:nvSpPr>
      <dsp:spPr>
        <a:xfrm>
          <a:off x="4" y="124573"/>
          <a:ext cx="6884678" cy="432982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rtlCol="1" anchor="ctr" anchorCtr="0">
          <a:noAutofit/>
        </a:bodyPr>
        <a:lstStyle/>
        <a:p>
          <a:pPr lvl="0" algn="ctr" defTabSz="488950" rtl="1">
            <a:lnSpc>
              <a:spcPct val="15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he-IL" sz="1100" b="1" kern="1200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תרכובת בסיסית:</a:t>
          </a:r>
        </a:p>
        <a:p>
          <a:pPr lvl="0" algn="ctr" defTabSz="488950" rtl="1">
            <a:lnSpc>
              <a:spcPct val="15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he-IL" sz="1100" b="1" kern="1200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תרכובת שמשחררת </a:t>
          </a:r>
          <a:r>
            <a:rPr lang="he-IL" sz="1100" b="1" kern="1200" noProof="0" dirty="0" err="1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אניוני</a:t>
          </a:r>
          <a:r>
            <a:rPr lang="he-IL" sz="1100" b="1" kern="1200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</a:t>
          </a:r>
          <a:r>
            <a:rPr lang="en-US" sz="1100" b="1" kern="1200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oh </a:t>
          </a:r>
          <a:r>
            <a:rPr lang="he-IL" sz="1100" b="1" kern="1200" noProof="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בסביבה מימית.
(אניון - יון בעל מטען חשמלי שלילי מכונה אניון).
תכונות הבסיס-
טעמו של הבסיס מר.
נייר לקמוס ורוד מכחיל בנוכחות בסיס.
הבסיסים נותנים תחושת סבון במגע יד עם תמיסותיהם.
בעבודה היום-יומית במספרה משמשים הבסיסים בתכשירים רבים כגון:
בתכשירי צביעת שיער לבלונד, בצבעי חמצון, בתכשירי חפיפה, בתכשירים להסרת שיער מיותר ובתכשירי החלקה וסלסול.</a:t>
          </a:r>
          <a:endParaRPr lang="he-IL" sz="1100" b="1" kern="1200" noProof="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008242" y="758661"/>
        <a:ext cx="4868202" cy="3061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C9DC648E-BBE4-46B1-A787-23170683AD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7B57CE7-7EA3-4357-B140-F337656AC6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416B5294-CAD4-4395-A854-CB7A2822F4B9}" type="datetime1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י"ז/סיון/תשפ"ד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B38C0F5-B287-45FF-B0C0-586D8C9CE1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ADF184E-4C59-4669-9C47-CEDDCBA5DB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8731115E-5D64-4733-BDFD-BA5D7ADEF699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‹#›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2149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he-IL" noProof="0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fld id="{FA19B9C3-EAF9-45D6-8001-FB1D73A0F2A7}" type="datetime1">
              <a:rPr lang="he-IL" smtClean="0"/>
              <a:t>י"ז/סיון/תשפ"ד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he-IL" noProof="0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he-IL" noProof="0" dirty="0"/>
              <a:t>ערוך סגנונות טקסט של תבנית בסיס</a:t>
            </a:r>
          </a:p>
          <a:p>
            <a:pPr lvl="1" rtl="1"/>
            <a:r>
              <a:rPr lang="he-IL" noProof="0" dirty="0"/>
              <a:t>רמה שניה</a:t>
            </a:r>
          </a:p>
          <a:p>
            <a:pPr lvl="2" rtl="1"/>
            <a:r>
              <a:rPr lang="he-IL" noProof="0" dirty="0"/>
              <a:t>רמה שלישית</a:t>
            </a:r>
          </a:p>
          <a:p>
            <a:pPr lvl="3" rtl="1"/>
            <a:r>
              <a:rPr lang="he-IL" noProof="0" dirty="0"/>
              <a:t>רמה רביעית</a:t>
            </a:r>
          </a:p>
          <a:p>
            <a:pPr lvl="4" rtl="1"/>
            <a:r>
              <a:rPr lang="he-IL" noProof="0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8F925AB-2AD6-473B-A4CA-1EAD30646CF2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1929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1"/>
            <a:fld id="{88F925AB-2AD6-473B-A4CA-1EAD30646CF2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92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1"/>
            <a:fld id="{88F925AB-2AD6-473B-A4CA-1EAD30646CF2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756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1"/>
            <a:fld id="{88F925AB-2AD6-473B-A4CA-1EAD30646CF2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3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134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1"/>
            <a:fld id="{88F925AB-2AD6-473B-A4CA-1EAD30646CF2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4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647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1"/>
            <a:fld id="{88F925AB-2AD6-473B-A4CA-1EAD30646CF2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5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389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1"/>
            <a:fld id="{88F925AB-2AD6-473B-A4CA-1EAD30646CF2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6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160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1"/>
            <a:fld id="{88F925AB-2AD6-473B-A4CA-1EAD30646CF2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10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8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 flipH="1">
            <a:off x="1751012" y="1300785"/>
            <a:ext cx="8689976" cy="2509213"/>
          </a:xfrm>
        </p:spPr>
        <p:txBody>
          <a:bodyPr rtlCol="1" anchor="b">
            <a:normAutofit/>
          </a:bodyPr>
          <a:lstStyle>
            <a:lvl1pPr algn="ctr" rtl="1">
              <a:defRPr sz="48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 flipH="1">
            <a:off x="1751012" y="3886200"/>
            <a:ext cx="8689976" cy="1371599"/>
          </a:xfrm>
        </p:spPr>
        <p:txBody>
          <a:bodyPr rtlCol="1">
            <a:normAutofit/>
          </a:bodyPr>
          <a:lstStyle>
            <a:lvl1pPr marL="0" indent="0" algn="ctr" rtl="1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he-IL" noProof="0" smtClean="0"/>
              <a:t>לחץ כדי לערוך סגנון כותרת משנה של תבנית בסיס</a:t>
            </a:r>
            <a:endParaRPr lang="he-IL" noProof="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2302135C-AF87-418C-9519-60757A94C8CF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3774" y="618517"/>
            <a:ext cx="10364451" cy="1596177"/>
          </a:xfrm>
        </p:spPr>
        <p:txBody>
          <a:bodyPr rtlCol="1"/>
          <a:lstStyle>
            <a:lvl1pPr algn="ct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12" name="מציין מיקום תוכן 2"/>
          <p:cNvSpPr>
            <a:spLocks noGrp="1"/>
          </p:cNvSpPr>
          <p:nvPr>
            <p:ph sz="quarter" idx="13"/>
          </p:nvPr>
        </p:nvSpPr>
        <p:spPr>
          <a:xfrm flipH="1">
            <a:off x="914400" y="2367092"/>
            <a:ext cx="10363826" cy="3424107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7C8A55FB-8914-469D-BFEA-E67C4B64D878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6D22F896-40B5-4ADD-8801-0D06FADFA095}" type="slidenum">
              <a:rPr lang="he-IL" smtClean="0"/>
              <a:pPr algn="l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26474" y="828563"/>
            <a:ext cx="10351752" cy="2736819"/>
          </a:xfrm>
        </p:spPr>
        <p:txBody>
          <a:bodyPr rtlCol="1" anchor="b">
            <a:normAutofit/>
          </a:bodyPr>
          <a:lstStyle>
            <a:lvl1pPr algn="ctr" rtl="1">
              <a:defRPr sz="40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926474" y="3657457"/>
            <a:ext cx="10351752" cy="1368183"/>
          </a:xfrm>
        </p:spPr>
        <p:txBody>
          <a:bodyPr rtlCol="1">
            <a:normAutofit/>
          </a:bodyPr>
          <a:lstStyle>
            <a:lvl1pPr marL="0" indent="0" algn="ctr" rtl="1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r" rtl="1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r" rtl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C1FAD779-8950-4F9A-9174-0DD310D28CD2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6D22F896-40B5-4ADD-8801-0D06FADFA095}" type="slidenum">
              <a:rPr lang="he-IL" smtClean="0"/>
              <a:pPr algn="l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כותרת 1"/>
          <p:cNvSpPr>
            <a:spLocks noGrp="1"/>
          </p:cNvSpPr>
          <p:nvPr>
            <p:ph type="title"/>
          </p:nvPr>
        </p:nvSpPr>
        <p:spPr>
          <a:xfrm flipH="1">
            <a:off x="913774" y="618517"/>
            <a:ext cx="10364451" cy="1596177"/>
          </a:xfrm>
        </p:spPr>
        <p:txBody>
          <a:bodyPr rtlCol="1"/>
          <a:lstStyle>
            <a:lvl1pPr algn="ct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12" name="מציין מיקום תוכן 2"/>
          <p:cNvSpPr>
            <a:spLocks noGrp="1"/>
          </p:cNvSpPr>
          <p:nvPr>
            <p:ph sz="quarter" idx="13"/>
          </p:nvPr>
        </p:nvSpPr>
        <p:spPr>
          <a:xfrm flipH="1">
            <a:off x="6172200" y="2367092"/>
            <a:ext cx="5106026" cy="3424107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13" name="מציין מיקום תוכן 3"/>
          <p:cNvSpPr>
            <a:spLocks noGrp="1"/>
          </p:cNvSpPr>
          <p:nvPr>
            <p:ph sz="quarter" idx="14"/>
          </p:nvPr>
        </p:nvSpPr>
        <p:spPr>
          <a:xfrm flipH="1">
            <a:off x="914400" y="2367092"/>
            <a:ext cx="5105400" cy="3424107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299456D8-D31A-4AE0-A488-1F542C91DDD4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תמונה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כותרת 1"/>
          <p:cNvSpPr>
            <a:spLocks noGrp="1"/>
          </p:cNvSpPr>
          <p:nvPr>
            <p:ph type="title"/>
          </p:nvPr>
        </p:nvSpPr>
        <p:spPr>
          <a:xfrm flipH="1">
            <a:off x="913774" y="618517"/>
            <a:ext cx="10364451" cy="1596177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6172198" y="2371018"/>
            <a:ext cx="4873474" cy="679994"/>
          </a:xfrm>
        </p:spPr>
        <p:txBody>
          <a:bodyPr rtlCol="1" anchor="b">
            <a:noAutofit/>
          </a:bodyPr>
          <a:lstStyle>
            <a:lvl1pPr marL="0" indent="0" algn="r" rtl="1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12" name="מציין מיקום תוכן 3"/>
          <p:cNvSpPr>
            <a:spLocks noGrp="1"/>
          </p:cNvSpPr>
          <p:nvPr>
            <p:ph sz="quarter" idx="13"/>
          </p:nvPr>
        </p:nvSpPr>
        <p:spPr>
          <a:xfrm flipH="1">
            <a:off x="6172199" y="3051012"/>
            <a:ext cx="5106027" cy="2740187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 flipH="1">
            <a:off x="913773" y="2371018"/>
            <a:ext cx="4881804" cy="679994"/>
          </a:xfrm>
        </p:spPr>
        <p:txBody>
          <a:bodyPr rtlCol="1" anchor="b">
            <a:noAutofit/>
          </a:bodyPr>
          <a:lstStyle>
            <a:lvl1pPr marL="0" indent="0" algn="r" rtl="1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13" name="מציין מיקום תוכן 5"/>
          <p:cNvSpPr>
            <a:spLocks noGrp="1"/>
          </p:cNvSpPr>
          <p:nvPr>
            <p:ph sz="quarter" idx="14"/>
          </p:nvPr>
        </p:nvSpPr>
        <p:spPr>
          <a:xfrm flipH="1">
            <a:off x="914399" y="3051012"/>
            <a:ext cx="5105401" cy="2740187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808EC634-C5D8-4C8D-BB9E-4678CF00F59A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3774" y="618517"/>
            <a:ext cx="10364451" cy="1596177"/>
          </a:xfrm>
        </p:spPr>
        <p:txBody>
          <a:bodyPr rtlCol="1"/>
          <a:lstStyle>
            <a:lvl1pPr algn="ct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7380FC21-B0DF-4B22-AB9A-ACAF69BCC70E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A098F460-0900-4BDB-81C2-2A08CA83DB6D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6D22F896-40B5-4ADD-8801-0D06FADFA095}" type="slidenum">
              <a:rPr lang="he-IL" smtClean="0"/>
              <a:pPr algn="l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תמונה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7342537" y="609600"/>
            <a:ext cx="3935688" cy="2023252"/>
          </a:xfrm>
        </p:spPr>
        <p:txBody>
          <a:bodyPr rtlCol="1" anchor="b"/>
          <a:lstStyle>
            <a:lvl1pPr algn="ctr" rtl="1">
              <a:defRPr sz="32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10" name="מציין מיקום תוכן 2"/>
          <p:cNvSpPr>
            <a:spLocks noGrp="1"/>
          </p:cNvSpPr>
          <p:nvPr>
            <p:ph sz="quarter" idx="13"/>
          </p:nvPr>
        </p:nvSpPr>
        <p:spPr>
          <a:xfrm flipH="1">
            <a:off x="913775" y="609600"/>
            <a:ext cx="6200163" cy="5181599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7342537" y="2632852"/>
            <a:ext cx="3935689" cy="3158348"/>
          </a:xfrm>
        </p:spPr>
        <p:txBody>
          <a:bodyPr rtlCol="1"/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239F9929-2873-4E7B-ACF7-CCB9C5D7D9C8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6D22F896-40B5-4ADD-8801-0D06FADFA095}" type="slidenum">
              <a:rPr lang="he-IL" smtClean="0"/>
              <a:pPr algn="l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5343257" y="609600"/>
            <a:ext cx="5934969" cy="2023254"/>
          </a:xfrm>
        </p:spPr>
        <p:txBody>
          <a:bodyPr rtlCol="1" anchor="b"/>
          <a:lstStyle>
            <a:lvl1pPr algn="ctr" rtl="1">
              <a:defRPr sz="32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3" name="מציין מיקום של תמונה 2"/>
          <p:cNvSpPr>
            <a:spLocks noGrp="1" noChangeAspect="1"/>
          </p:cNvSpPr>
          <p:nvPr>
            <p:ph type="pic" idx="1"/>
          </p:nvPr>
        </p:nvSpPr>
        <p:spPr>
          <a:xfrm flipH="1">
            <a:off x="1511839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rtlCol="1" anchor="t"/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he-IL" noProof="0" smtClean="0"/>
              <a:t>לחץ על הסמל כדי להוסיף תמונה</a:t>
            </a:r>
            <a:endParaRPr lang="he-IL" noProof="0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5343257" y="2632852"/>
            <a:ext cx="5934949" cy="3158347"/>
          </a:xfrm>
        </p:spPr>
        <p:txBody>
          <a:bodyPr rtlCol="1"/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CDCE5E67-5006-420C-A232-96A084B71635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6D22F896-40B5-4ADD-8801-0D06FADFA095}" type="slidenum">
              <a:rPr lang="he-IL" smtClean="0"/>
              <a:pPr algn="l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3774" y="4289374"/>
            <a:ext cx="10364432" cy="811610"/>
          </a:xfrm>
        </p:spPr>
        <p:txBody>
          <a:bodyPr rtlCol="1" anchor="b"/>
          <a:lstStyle>
            <a:lvl1pPr algn="ctr" rtl="1">
              <a:defRPr sz="32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3" name="מציין מיקום של תמונה 2"/>
          <p:cNvSpPr>
            <a:spLocks noGrp="1" noChangeAspect="1"/>
          </p:cNvSpPr>
          <p:nvPr>
            <p:ph type="pic" idx="1"/>
          </p:nvPr>
        </p:nvSpPr>
        <p:spPr>
          <a:xfrm flipH="1">
            <a:off x="118472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rtlCol="1" anchor="t"/>
          <a:lstStyle>
            <a:lvl1pPr marL="0" indent="0" algn="ct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he-IL" noProof="0" smtClean="0"/>
              <a:t>לחץ על הסמל כדי להוסיף תמונה</a:t>
            </a:r>
            <a:endParaRPr lang="he-IL" noProof="0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913774" y="5108728"/>
            <a:ext cx="10364452" cy="682472"/>
          </a:xfrm>
        </p:spPr>
        <p:txBody>
          <a:bodyPr rtlCol="1"/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E3A19A82-C819-4996-9FD3-D87196EC8059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3774" y="609599"/>
            <a:ext cx="10364452" cy="3427245"/>
          </a:xfrm>
        </p:spPr>
        <p:txBody>
          <a:bodyPr rtlCol="1" anchor="ctr"/>
          <a:lstStyle>
            <a:lvl1pPr algn="ctr" rtl="1">
              <a:defRPr sz="32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913773" y="4204821"/>
            <a:ext cx="10364452" cy="1586380"/>
          </a:xfrm>
        </p:spPr>
        <p:txBody>
          <a:bodyPr rtlCol="1" anchor="ctr"/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FBA40351-BA51-44B8-A4D5-0A2ECCDC98D2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6D22F896-40B5-4ADD-8801-0D06FADFA095}" type="slidenum">
              <a:rPr lang="he-IL" smtClean="0"/>
              <a:pPr algn="l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תמונה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1443036" y="609600"/>
            <a:ext cx="9302752" cy="2992904"/>
          </a:xfrm>
        </p:spPr>
        <p:txBody>
          <a:bodyPr rtlCol="1" anchor="ctr"/>
          <a:lstStyle>
            <a:lvl1pPr algn="ctr" rtl="1"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12" name="מציין מיקום טקסט 3"/>
          <p:cNvSpPr>
            <a:spLocks noGrp="1"/>
          </p:cNvSpPr>
          <p:nvPr>
            <p:ph type="body" sz="half" idx="13"/>
          </p:nvPr>
        </p:nvSpPr>
        <p:spPr>
          <a:xfrm flipH="1">
            <a:off x="1719057" y="3610032"/>
            <a:ext cx="8752299" cy="594788"/>
          </a:xfrm>
        </p:spPr>
        <p:txBody>
          <a:bodyPr rtlCol="1" anchor="t">
            <a:normAutofit/>
          </a:bodyPr>
          <a:lstStyle>
            <a:lvl1pPr marL="0" indent="0" algn="r" rtl="1"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913774" y="4372796"/>
            <a:ext cx="10364452" cy="1421053"/>
          </a:xfrm>
        </p:spPr>
        <p:txBody>
          <a:bodyPr rtlCol="1" anchor="ctr">
            <a:normAutofit/>
          </a:bodyPr>
          <a:lstStyle>
            <a:lvl1pPr marL="0" indent="0" algn="ctr" rtl="1">
              <a:buNone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B9E12F1A-60C1-48C3-8ED9-7960348746C1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  <p:sp>
        <p:nvSpPr>
          <p:cNvPr id="13" name="תיבת טקסט 12"/>
          <p:cNvSpPr txBox="1"/>
          <p:nvPr/>
        </p:nvSpPr>
        <p:spPr>
          <a:xfrm flipH="1">
            <a:off x="10580912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rtl="1"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algn="r" rtl="1">
              <a:defRPr>
                <a:solidFill>
                  <a:schemeClr val="tx2"/>
                </a:solidFill>
              </a:defRPr>
            </a:lvl2pPr>
            <a:lvl3pPr algn="r" rtl="1">
              <a:defRPr>
                <a:solidFill>
                  <a:schemeClr val="tx2"/>
                </a:solidFill>
              </a:defRPr>
            </a:lvl3pPr>
            <a:lvl4pPr algn="r" rtl="1">
              <a:defRPr>
                <a:solidFill>
                  <a:schemeClr val="tx2"/>
                </a:solidFill>
              </a:defRPr>
            </a:lvl4pPr>
            <a:lvl5pPr algn="r" rtl="1">
              <a:defRPr>
                <a:solidFill>
                  <a:schemeClr val="tx2"/>
                </a:solidFill>
              </a:defRPr>
            </a:lvl5pPr>
            <a:lvl6pPr algn="r" rtl="1">
              <a:defRPr>
                <a:solidFill>
                  <a:schemeClr val="tx2"/>
                </a:solidFill>
              </a:defRPr>
            </a:lvl6pPr>
            <a:lvl7pPr algn="r" rtl="1">
              <a:defRPr>
                <a:solidFill>
                  <a:schemeClr val="tx2"/>
                </a:solidFill>
              </a:defRPr>
            </a:lvl7pPr>
            <a:lvl8pPr algn="r" rtl="1">
              <a:defRPr>
                <a:solidFill>
                  <a:schemeClr val="tx2"/>
                </a:solidFill>
              </a:defRPr>
            </a:lvl8pPr>
            <a:lvl9pPr algn="r" rtl="1">
              <a:defRPr>
                <a:solidFill>
                  <a:schemeClr val="tx2"/>
                </a:solidFill>
              </a:defRPr>
            </a:lvl9pPr>
          </a:lstStyle>
          <a:p>
            <a:pPr lvl="0" algn="r" rtl="1"/>
            <a:r>
              <a:rPr lang="he-IL" sz="8000" noProof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</a:p>
        </p:txBody>
      </p:sp>
      <p:sp>
        <p:nvSpPr>
          <p:cNvPr id="14" name="תיבת טקסט 13"/>
          <p:cNvSpPr txBox="1"/>
          <p:nvPr/>
        </p:nvSpPr>
        <p:spPr>
          <a:xfrm flipH="1">
            <a:off x="1024842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rtl="1"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 algn="r" rtl="1">
              <a:defRPr>
                <a:solidFill>
                  <a:schemeClr val="tx2"/>
                </a:solidFill>
              </a:defRPr>
            </a:lvl2pPr>
            <a:lvl3pPr algn="r" rtl="1">
              <a:defRPr>
                <a:solidFill>
                  <a:schemeClr val="tx2"/>
                </a:solidFill>
              </a:defRPr>
            </a:lvl3pPr>
            <a:lvl4pPr algn="r" rtl="1">
              <a:defRPr>
                <a:solidFill>
                  <a:schemeClr val="tx2"/>
                </a:solidFill>
              </a:defRPr>
            </a:lvl4pPr>
            <a:lvl5pPr algn="r" rtl="1">
              <a:defRPr>
                <a:solidFill>
                  <a:schemeClr val="tx2"/>
                </a:solidFill>
              </a:defRPr>
            </a:lvl5pPr>
            <a:lvl6pPr algn="r" rtl="1">
              <a:defRPr>
                <a:solidFill>
                  <a:schemeClr val="tx2"/>
                </a:solidFill>
              </a:defRPr>
            </a:lvl6pPr>
            <a:lvl7pPr algn="r" rtl="1">
              <a:defRPr>
                <a:solidFill>
                  <a:schemeClr val="tx2"/>
                </a:solidFill>
              </a:defRPr>
            </a:lvl7pPr>
            <a:lvl8pPr algn="r" rtl="1">
              <a:defRPr>
                <a:solidFill>
                  <a:schemeClr val="tx2"/>
                </a:solidFill>
              </a:defRPr>
            </a:lvl8pPr>
            <a:lvl9pPr algn="r" rtl="1"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he-IL" sz="8000" noProof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3773" y="2138721"/>
            <a:ext cx="10364452" cy="2511835"/>
          </a:xfrm>
        </p:spPr>
        <p:txBody>
          <a:bodyPr rtlCol="1" anchor="b"/>
          <a:lstStyle>
            <a:lvl1pPr algn="ctr" rtl="1">
              <a:defRPr sz="32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913773" y="4662335"/>
            <a:ext cx="10364452" cy="1140644"/>
          </a:xfrm>
        </p:spPr>
        <p:txBody>
          <a:bodyPr rtlCol="1" anchor="t"/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E672E68A-2E5A-4D15-ACC5-51793B04E6C1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תמונה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כותרת 1"/>
          <p:cNvSpPr>
            <a:spLocks noGrp="1"/>
          </p:cNvSpPr>
          <p:nvPr>
            <p:ph type="title"/>
          </p:nvPr>
        </p:nvSpPr>
        <p:spPr>
          <a:xfrm flipH="1">
            <a:off x="913774" y="609600"/>
            <a:ext cx="10364452" cy="1605094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7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7979250" y="2367093"/>
            <a:ext cx="3298976" cy="576262"/>
          </a:xfrm>
        </p:spPr>
        <p:txBody>
          <a:bodyPr rtlCol="1" anchor="b">
            <a:noAutofit/>
          </a:bodyPr>
          <a:lstStyle>
            <a:lvl1pPr marL="0" indent="0" algn="ctr" rtl="1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8" name="מציין מיקום טקסט 3"/>
          <p:cNvSpPr>
            <a:spLocks noGrp="1"/>
          </p:cNvSpPr>
          <p:nvPr>
            <p:ph type="body" sz="half" idx="15"/>
          </p:nvPr>
        </p:nvSpPr>
        <p:spPr>
          <a:xfrm flipH="1">
            <a:off x="7979250" y="2943355"/>
            <a:ext cx="3298976" cy="2847845"/>
          </a:xfrm>
        </p:spPr>
        <p:txBody>
          <a:bodyPr rtlCol="1" anchor="t">
            <a:normAutofit/>
          </a:bodyPr>
          <a:lstStyle>
            <a:lvl1pPr marL="0" indent="0" algn="ct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9" name="מציין מיקום טקסט 4"/>
          <p:cNvSpPr>
            <a:spLocks noGrp="1"/>
          </p:cNvSpPr>
          <p:nvPr>
            <p:ph type="body" sz="quarter" idx="3"/>
          </p:nvPr>
        </p:nvSpPr>
        <p:spPr>
          <a:xfrm flipH="1">
            <a:off x="4448090" y="2367093"/>
            <a:ext cx="3291521" cy="576262"/>
          </a:xfrm>
        </p:spPr>
        <p:txBody>
          <a:bodyPr rtlCol="1" anchor="b">
            <a:noAutofit/>
          </a:bodyPr>
          <a:lstStyle>
            <a:lvl1pPr marL="0" indent="0" algn="ctr" rtl="1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10" name="מציין מיקום טקסט 3"/>
          <p:cNvSpPr>
            <a:spLocks noGrp="1"/>
          </p:cNvSpPr>
          <p:nvPr>
            <p:ph type="body" sz="half" idx="16"/>
          </p:nvPr>
        </p:nvSpPr>
        <p:spPr>
          <a:xfrm flipH="1">
            <a:off x="4447301" y="2943355"/>
            <a:ext cx="3303351" cy="2847845"/>
          </a:xfrm>
        </p:spPr>
        <p:txBody>
          <a:bodyPr rtlCol="1" anchor="t">
            <a:normAutofit/>
          </a:bodyPr>
          <a:lstStyle>
            <a:lvl1pPr marL="0" indent="0" algn="ct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11" name="מציין מיקום טקסט 4"/>
          <p:cNvSpPr>
            <a:spLocks noGrp="1"/>
          </p:cNvSpPr>
          <p:nvPr>
            <p:ph type="body" sz="quarter" idx="13"/>
          </p:nvPr>
        </p:nvSpPr>
        <p:spPr>
          <a:xfrm flipH="1">
            <a:off x="913774" y="2367093"/>
            <a:ext cx="3304928" cy="576262"/>
          </a:xfrm>
        </p:spPr>
        <p:txBody>
          <a:bodyPr rtlCol="1" anchor="b">
            <a:noAutofit/>
          </a:bodyPr>
          <a:lstStyle>
            <a:lvl1pPr marL="0" indent="0" algn="ctr" rtl="1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12" name="מציין מיקום טקסט 3"/>
          <p:cNvSpPr>
            <a:spLocks noGrp="1"/>
          </p:cNvSpPr>
          <p:nvPr>
            <p:ph type="body" sz="half" idx="17"/>
          </p:nvPr>
        </p:nvSpPr>
        <p:spPr>
          <a:xfrm flipH="1">
            <a:off x="913774" y="2943355"/>
            <a:ext cx="3304928" cy="2847845"/>
          </a:xfrm>
        </p:spPr>
        <p:txBody>
          <a:bodyPr rtlCol="1" anchor="t">
            <a:normAutofit/>
          </a:bodyPr>
          <a:lstStyle>
            <a:lvl1pPr marL="0" indent="0" algn="ct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D186D707-3922-4C5E-9D1C-8D5372AF279B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ה עם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תמונה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כותרת 1"/>
          <p:cNvSpPr>
            <a:spLocks noGrp="1"/>
          </p:cNvSpPr>
          <p:nvPr>
            <p:ph type="title"/>
          </p:nvPr>
        </p:nvSpPr>
        <p:spPr>
          <a:xfrm flipH="1">
            <a:off x="913774" y="610772"/>
            <a:ext cx="10364452" cy="1603922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19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7981817" y="4204820"/>
            <a:ext cx="3296409" cy="576262"/>
          </a:xfrm>
        </p:spPr>
        <p:txBody>
          <a:bodyPr rtlCol="1" anchor="b">
            <a:noAutofit/>
          </a:bodyPr>
          <a:lstStyle>
            <a:lvl1pPr marL="0" indent="0" algn="ctr" rtl="1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20" name="מציין מיקום של תמונה 2"/>
          <p:cNvSpPr>
            <a:spLocks noGrp="1" noChangeAspect="1"/>
          </p:cNvSpPr>
          <p:nvPr>
            <p:ph type="pic" idx="15"/>
          </p:nvPr>
        </p:nvSpPr>
        <p:spPr>
          <a:xfrm flipH="1">
            <a:off x="7981817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rtlCol="1" anchor="t">
            <a:normAutofit/>
          </a:bodyPr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600"/>
            </a:lvl4pPr>
            <a:lvl5pPr marL="1828800" indent="0" algn="r" rtl="1">
              <a:buNone/>
              <a:defRPr sz="1600"/>
            </a:lvl5pPr>
            <a:lvl6pPr marL="2286000" indent="0" algn="r" rtl="1">
              <a:buNone/>
              <a:defRPr sz="1600"/>
            </a:lvl6pPr>
            <a:lvl7pPr marL="2743200" indent="0" algn="r" rtl="1">
              <a:buNone/>
              <a:defRPr sz="1600"/>
            </a:lvl7pPr>
            <a:lvl8pPr marL="3200400" indent="0" algn="r" rtl="1">
              <a:buNone/>
              <a:defRPr sz="1600"/>
            </a:lvl8pPr>
            <a:lvl9pPr marL="3657600" indent="0" algn="r" rtl="1">
              <a:buNone/>
              <a:defRPr sz="1600"/>
            </a:lvl9pPr>
          </a:lstStyle>
          <a:p>
            <a:pPr rtl="1"/>
            <a:r>
              <a:rPr lang="he-IL" noProof="0" smtClean="0"/>
              <a:t>לחץ על הסמל כדי להוסיף תמונה</a:t>
            </a:r>
            <a:endParaRPr lang="he-IL" noProof="0" dirty="0"/>
          </a:p>
        </p:txBody>
      </p:sp>
      <p:sp>
        <p:nvSpPr>
          <p:cNvPr id="21" name="מציין מיקום טקסט 3"/>
          <p:cNvSpPr>
            <a:spLocks noGrp="1"/>
          </p:cNvSpPr>
          <p:nvPr>
            <p:ph type="body" sz="half" idx="18"/>
          </p:nvPr>
        </p:nvSpPr>
        <p:spPr>
          <a:xfrm flipH="1">
            <a:off x="7981817" y="4781082"/>
            <a:ext cx="3296409" cy="1010118"/>
          </a:xfrm>
        </p:spPr>
        <p:txBody>
          <a:bodyPr rtlCol="1" anchor="t">
            <a:normAutofit/>
          </a:bodyPr>
          <a:lstStyle>
            <a:lvl1pPr marL="0" indent="0" algn="ct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22" name="מציין מיקום טקסט 4"/>
          <p:cNvSpPr>
            <a:spLocks noGrp="1"/>
          </p:cNvSpPr>
          <p:nvPr>
            <p:ph type="body" sz="quarter" idx="3"/>
          </p:nvPr>
        </p:nvSpPr>
        <p:spPr>
          <a:xfrm flipH="1">
            <a:off x="4447413" y="4204820"/>
            <a:ext cx="3301828" cy="576262"/>
          </a:xfrm>
        </p:spPr>
        <p:txBody>
          <a:bodyPr rtlCol="1" anchor="b">
            <a:noAutofit/>
          </a:bodyPr>
          <a:lstStyle>
            <a:lvl1pPr marL="0" indent="0" algn="ctr" rtl="1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23" name="מציין מיקום של תמונה 2"/>
          <p:cNvSpPr>
            <a:spLocks noGrp="1" noChangeAspect="1"/>
          </p:cNvSpPr>
          <p:nvPr>
            <p:ph type="pic" idx="21"/>
          </p:nvPr>
        </p:nvSpPr>
        <p:spPr>
          <a:xfrm flipH="1">
            <a:off x="4447300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rtlCol="1" anchor="t">
            <a:normAutofit/>
          </a:bodyPr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600"/>
            </a:lvl4pPr>
            <a:lvl5pPr marL="1828800" indent="0" algn="r" rtl="1">
              <a:buNone/>
              <a:defRPr sz="1600"/>
            </a:lvl5pPr>
            <a:lvl6pPr marL="2286000" indent="0" algn="r" rtl="1">
              <a:buNone/>
              <a:defRPr sz="1600"/>
            </a:lvl6pPr>
            <a:lvl7pPr marL="2743200" indent="0" algn="r" rtl="1">
              <a:buNone/>
              <a:defRPr sz="1600"/>
            </a:lvl7pPr>
            <a:lvl8pPr marL="3200400" indent="0" algn="r" rtl="1">
              <a:buNone/>
              <a:defRPr sz="1600"/>
            </a:lvl8pPr>
            <a:lvl9pPr marL="3657600" indent="0" algn="r" rtl="1">
              <a:buNone/>
              <a:defRPr sz="1600"/>
            </a:lvl9pPr>
          </a:lstStyle>
          <a:p>
            <a:pPr rtl="1"/>
            <a:r>
              <a:rPr lang="he-IL" noProof="0" smtClean="0"/>
              <a:t>לחץ על הסמל כדי להוסיף תמונה</a:t>
            </a:r>
            <a:endParaRPr lang="he-IL" noProof="0" dirty="0"/>
          </a:p>
        </p:txBody>
      </p:sp>
      <p:sp>
        <p:nvSpPr>
          <p:cNvPr id="24" name="מציין מיקום טקסט 3"/>
          <p:cNvSpPr>
            <a:spLocks noGrp="1"/>
          </p:cNvSpPr>
          <p:nvPr>
            <p:ph type="body" sz="half" idx="19"/>
          </p:nvPr>
        </p:nvSpPr>
        <p:spPr>
          <a:xfrm flipH="1">
            <a:off x="4447300" y="4781080"/>
            <a:ext cx="3303352" cy="1010119"/>
          </a:xfrm>
        </p:spPr>
        <p:txBody>
          <a:bodyPr rtlCol="1" anchor="t">
            <a:normAutofit/>
          </a:bodyPr>
          <a:lstStyle>
            <a:lvl1pPr marL="0" indent="0" algn="ct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25" name="מציין מיקום טקסט 4"/>
          <p:cNvSpPr>
            <a:spLocks noGrp="1"/>
          </p:cNvSpPr>
          <p:nvPr>
            <p:ph type="body" sz="quarter" idx="13"/>
          </p:nvPr>
        </p:nvSpPr>
        <p:spPr>
          <a:xfrm flipH="1">
            <a:off x="918021" y="4204820"/>
            <a:ext cx="3300681" cy="576262"/>
          </a:xfrm>
        </p:spPr>
        <p:txBody>
          <a:bodyPr rtlCol="1" anchor="b">
            <a:noAutofit/>
          </a:bodyPr>
          <a:lstStyle>
            <a:lvl1pPr marL="0" indent="0" algn="ctr" rtl="1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26" name="מציין מיקום של תמונה 2"/>
          <p:cNvSpPr>
            <a:spLocks noGrp="1" noChangeAspect="1"/>
          </p:cNvSpPr>
          <p:nvPr>
            <p:ph type="pic" idx="22"/>
          </p:nvPr>
        </p:nvSpPr>
        <p:spPr>
          <a:xfrm flipH="1">
            <a:off x="913774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rtlCol="1" anchor="t">
            <a:normAutofit/>
          </a:bodyPr>
          <a:lstStyle>
            <a:lvl1pPr marL="0" indent="0" algn="ctr" rtl="1">
              <a:buNone/>
              <a:defRPr sz="1600"/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600"/>
            </a:lvl4pPr>
            <a:lvl5pPr marL="1828800" indent="0" algn="r" rtl="1">
              <a:buNone/>
              <a:defRPr sz="1600"/>
            </a:lvl5pPr>
            <a:lvl6pPr marL="2286000" indent="0" algn="r" rtl="1">
              <a:buNone/>
              <a:defRPr sz="1600"/>
            </a:lvl6pPr>
            <a:lvl7pPr marL="2743200" indent="0" algn="r" rtl="1">
              <a:buNone/>
              <a:defRPr sz="1600"/>
            </a:lvl7pPr>
            <a:lvl8pPr marL="3200400" indent="0" algn="r" rtl="1">
              <a:buNone/>
              <a:defRPr sz="1600"/>
            </a:lvl8pPr>
            <a:lvl9pPr marL="3657600" indent="0" algn="r" rtl="1">
              <a:buNone/>
              <a:defRPr sz="1600"/>
            </a:lvl9pPr>
          </a:lstStyle>
          <a:p>
            <a:pPr rtl="1"/>
            <a:r>
              <a:rPr lang="he-IL" noProof="0" smtClean="0"/>
              <a:t>לחץ על הסמל כדי להוסיף תמונה</a:t>
            </a:r>
            <a:endParaRPr lang="he-IL" noProof="0" dirty="0"/>
          </a:p>
        </p:txBody>
      </p:sp>
      <p:sp>
        <p:nvSpPr>
          <p:cNvPr id="27" name="מציין מיקום טקסט 3"/>
          <p:cNvSpPr>
            <a:spLocks noGrp="1"/>
          </p:cNvSpPr>
          <p:nvPr>
            <p:ph type="body" sz="half" idx="20"/>
          </p:nvPr>
        </p:nvSpPr>
        <p:spPr>
          <a:xfrm flipH="1">
            <a:off x="913774" y="4781078"/>
            <a:ext cx="3305053" cy="1010121"/>
          </a:xfrm>
        </p:spPr>
        <p:txBody>
          <a:bodyPr rtlCol="1" anchor="t">
            <a:normAutofit/>
          </a:bodyPr>
          <a:lstStyle>
            <a:lvl1pPr marL="0" indent="0" algn="ct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B4BDA8A5-F41B-4D42-9ECA-66BFCC03D59E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6D22F896-40B5-4ADD-8801-0D06FADFA095}" type="slidenum">
              <a:rPr lang="he-IL" smtClean="0"/>
              <a:pPr algn="l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3774" y="618517"/>
            <a:ext cx="10364451" cy="1596177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11" name="מציין מיקום טקסט אנכי 2"/>
          <p:cNvSpPr>
            <a:spLocks noGrp="1"/>
          </p:cNvSpPr>
          <p:nvPr>
            <p:ph type="body" orient="vert" sz="quarter" idx="13"/>
          </p:nvPr>
        </p:nvSpPr>
        <p:spPr>
          <a:xfrm flipH="1">
            <a:off x="913773" y="2367093"/>
            <a:ext cx="10364452" cy="3424107"/>
          </a:xfrm>
        </p:spPr>
        <p:txBody>
          <a:bodyPr vert="eaVert"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C4D5A281-BDA3-46C9-936D-27D8F423DA4C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 flipH="1">
            <a:off x="913774" y="609601"/>
            <a:ext cx="2553326" cy="5181599"/>
          </a:xfrm>
        </p:spPr>
        <p:txBody>
          <a:bodyPr vert="vert270"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8" name="מציין מיקום טקסט אנכי 2"/>
          <p:cNvSpPr>
            <a:spLocks noGrp="1"/>
          </p:cNvSpPr>
          <p:nvPr>
            <p:ph type="body" orient="vert" sz="quarter" idx="13"/>
          </p:nvPr>
        </p:nvSpPr>
        <p:spPr>
          <a:xfrm flipH="1">
            <a:off x="3619501" y="609601"/>
            <a:ext cx="7658724" cy="5181599"/>
          </a:xfrm>
        </p:spPr>
        <p:txBody>
          <a:bodyPr vert="vert270"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D22A05E7-7C0A-4E87-87A3-0D57A9196449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3774" y="618517"/>
            <a:ext cx="10364451" cy="1596177"/>
          </a:xfrm>
        </p:spPr>
        <p:txBody>
          <a:bodyPr rtlCol="1"/>
          <a:lstStyle>
            <a:lvl1pPr algn="ct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913773" y="2367093"/>
            <a:ext cx="10364452" cy="3424107"/>
          </a:xfrm>
        </p:spPr>
        <p:txBody>
          <a:bodyPr rtlCol="1" anchor="ctr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 smtClean="0"/>
              <a:t>ערוך סגנונות טקסט של תבנית בסיס</a:t>
            </a:r>
          </a:p>
          <a:p>
            <a:pPr lvl="1" rtl="1"/>
            <a:r>
              <a:rPr lang="he-IL" noProof="0" smtClean="0"/>
              <a:t>רמה שניה</a:t>
            </a:r>
          </a:p>
          <a:p>
            <a:pPr lvl="2" rtl="1"/>
            <a:r>
              <a:rPr lang="he-IL" noProof="0" smtClean="0"/>
              <a:t>רמה שלישית</a:t>
            </a:r>
          </a:p>
          <a:p>
            <a:pPr lvl="3" rtl="1"/>
            <a:r>
              <a:rPr lang="he-IL" noProof="0" smtClean="0"/>
              <a:t>רמה רביעית</a:t>
            </a:r>
          </a:p>
          <a:p>
            <a:pPr lvl="4" rtl="1"/>
            <a:r>
              <a:rPr lang="he-IL" noProof="0" smtClean="0"/>
              <a:t>רמה חמישית</a:t>
            </a:r>
            <a:endParaRPr lang="he-IL" noProof="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1770063" y="5883275"/>
            <a:ext cx="27432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A48FFBB6-C960-43EF-A361-5E9C588CDF91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05339" y="5883275"/>
            <a:ext cx="6672887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he-IL" noProof="0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913774" y="5883275"/>
            <a:ext cx="764215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D57F1E4F-1CFF-5643-939E-217C01CDF56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תמונה 2" descr="‎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 flipH="1">
            <a:off x="913774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pPr rtl="1"/>
            <a:r>
              <a:rPr lang="he-IL" noProof="0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913773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 rtl="1"/>
            <a:r>
              <a:rPr lang="he-IL" noProof="0" dirty="0"/>
              <a:t>ערוך סגנונות טקסט של תבנית בסיס</a:t>
            </a:r>
          </a:p>
          <a:p>
            <a:pPr lvl="1" rtl="1"/>
            <a:r>
              <a:rPr lang="he-IL" noProof="0" dirty="0"/>
              <a:t>רמה שניה</a:t>
            </a:r>
          </a:p>
          <a:p>
            <a:pPr lvl="2" rtl="1"/>
            <a:r>
              <a:rPr lang="he-IL" noProof="0" dirty="0"/>
              <a:t>רמה שלישית</a:t>
            </a:r>
          </a:p>
          <a:p>
            <a:pPr lvl="3" rtl="1"/>
            <a:r>
              <a:rPr lang="he-IL" noProof="0" dirty="0"/>
              <a:t>רמה רביעית</a:t>
            </a:r>
          </a:p>
          <a:p>
            <a:pPr lvl="4" rtl="1"/>
            <a:r>
              <a:rPr lang="he-IL" noProof="0" dirty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 flipH="1">
            <a:off x="1770063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>
              <a:defRPr sz="1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BE46D81-8E31-46A1-B25D-0FF234638ECE}" type="datetime1">
              <a:rPr lang="he-IL" smtClean="0"/>
              <a:pPr/>
              <a:t>י"ז/סיון/תשפ"ד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 flipH="1">
            <a:off x="4605339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1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he-IL" noProof="0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 flipH="1">
            <a:off x="913774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>
              <a:defRPr sz="1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D22F896-40B5-4ADD-8801-0D06FADFA095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hf sldNum="0" hdr="0" ftr="0" dt="0"/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1.xml"/><Relationship Id="rId5" Type="http://schemas.openxmlformats.org/officeDocument/2006/relationships/image" Target="../media/image5.jpeg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2.xml"/><Relationship Id="rId5" Type="http://schemas.openxmlformats.org/officeDocument/2006/relationships/image" Target="../media/image5.jpeg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מלבן 9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תמונה 2">
            <a:extLst>
              <a:ext uri="{FF2B5EF4-FFF2-40B4-BE49-F238E27FC236}">
                <a16:creationId xmlns:a16="http://schemas.microsoft.com/office/drawing/2014/main" id="{C3C7ED6A-DE7F-4002-9699-B659DE5512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מלבן 13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34726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תמונה 4" descr="צלחת פטרי">
            <a:extLst>
              <a:ext uri="{FF2B5EF4-FFF2-40B4-BE49-F238E27FC236}">
                <a16:creationId xmlns:a16="http://schemas.microsoft.com/office/drawing/2014/main" id="{D16B27C4-A9C2-4AC4-9DD3-88F63F48E83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0"/>
            <a:ext cx="4834726" cy="6857990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5930899" y="1358901"/>
            <a:ext cx="5280026" cy="2730498"/>
          </a:xfrm>
        </p:spPr>
        <p:txBody>
          <a:bodyPr rtlCol="1">
            <a:normAutofit/>
          </a:bodyPr>
          <a:lstStyle/>
          <a:p>
            <a:pPr rtl="1"/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חומצות ובסיסים</a:t>
            </a:r>
            <a:endParaRPr lang="he-IL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930898" y="4165600"/>
            <a:ext cx="5280027" cy="1371599"/>
          </a:xfrm>
        </p:spPr>
        <p:txBody>
          <a:bodyPr rtlCol="1">
            <a:normAutofit/>
          </a:bodyPr>
          <a:lstStyle/>
          <a:p>
            <a:pPr rtl="1"/>
            <a:r>
              <a:rPr lang="he-IL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שיער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תמונה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6" name="מלבן 25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תמונה 2">
            <a:extLst>
              <a:ext uri="{FF2B5EF4-FFF2-40B4-BE49-F238E27FC236}">
                <a16:creationId xmlns:a16="http://schemas.microsoft.com/office/drawing/2014/main" id="{F5B52056-26AD-4841-8A16-C1D9E3C0993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מציין מיקום תוכן 5" descr="נוסחה">
            <a:extLst>
              <a:ext uri="{FF2B5EF4-FFF2-40B4-BE49-F238E27FC236}">
                <a16:creationId xmlns:a16="http://schemas.microsoft.com/office/drawing/2014/main" id="{29B78601-F415-4A48-AB86-2F6B81FA913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 flipH="1">
            <a:off x="8167239" y="10"/>
            <a:ext cx="4024741" cy="6857990"/>
          </a:xfrm>
          <a:prstGeom prst="rect">
            <a:avLst/>
          </a:prstGeom>
        </p:spPr>
      </p:pic>
      <p:sp>
        <p:nvSpPr>
          <p:cNvPr id="30" name="מלבן 29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5926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2" name="תמונה 31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58B2B72-EB44-4428-96AA-8636E4A4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26969" y="321058"/>
            <a:ext cx="6672886" cy="797328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rtl="1"/>
            <a:r>
              <a:rPr lang="he-IL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חומצות</a:t>
            </a:r>
            <a:endParaRPr lang="he-IL" sz="440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2" name="מציין מיקום תוכן 8" descr="SmartArt">
            <a:extLst>
              <a:ext uri="{FF2B5EF4-FFF2-40B4-BE49-F238E27FC236}">
                <a16:creationId xmlns:a16="http://schemas.microsoft.com/office/drawing/2014/main" id="{392A9BA3-CD8D-4E63-8279-5904B3797DA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428848398"/>
              </p:ext>
            </p:extLst>
          </p:nvPr>
        </p:nvGraphicFramePr>
        <p:xfrm>
          <a:off x="373385" y="1281501"/>
          <a:ext cx="7369506" cy="4537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10635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תמונה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6" name="מלבן 25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תמונה 2">
            <a:extLst>
              <a:ext uri="{FF2B5EF4-FFF2-40B4-BE49-F238E27FC236}">
                <a16:creationId xmlns:a16="http://schemas.microsoft.com/office/drawing/2014/main" id="{F5B52056-26AD-4841-8A16-C1D9E3C0993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מציין מיקום תוכן 5" descr="נוסחה">
            <a:extLst>
              <a:ext uri="{FF2B5EF4-FFF2-40B4-BE49-F238E27FC236}">
                <a16:creationId xmlns:a16="http://schemas.microsoft.com/office/drawing/2014/main" id="{29B78601-F415-4A48-AB86-2F6B81FA913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 flipH="1">
            <a:off x="8167239" y="10"/>
            <a:ext cx="4024741" cy="6857990"/>
          </a:xfrm>
          <a:prstGeom prst="rect">
            <a:avLst/>
          </a:prstGeom>
        </p:spPr>
      </p:pic>
      <p:sp>
        <p:nvSpPr>
          <p:cNvPr id="30" name="מלבן 29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5926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2" name="תמונה 31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58B2B72-EB44-4428-96AA-8636E4A4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955741" y="618518"/>
            <a:ext cx="6672886" cy="797328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rtl="1"/>
            <a:r>
              <a:rPr lang="he-IL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בסיסים</a:t>
            </a:r>
            <a:endParaRPr lang="he-IL" sz="440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2" name="מציין מיקום תוכן 8" descr="SmartArt">
            <a:extLst>
              <a:ext uri="{FF2B5EF4-FFF2-40B4-BE49-F238E27FC236}">
                <a16:creationId xmlns:a16="http://schemas.microsoft.com/office/drawing/2014/main" id="{392A9BA3-CD8D-4E63-8279-5904B3797DA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14012050"/>
              </p:ext>
            </p:extLst>
          </p:nvPr>
        </p:nvGraphicFramePr>
        <p:xfrm>
          <a:off x="743939" y="1481007"/>
          <a:ext cx="6884688" cy="4578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06903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מלבן 27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" name="תמונה 2">
            <a:extLst>
              <a:ext uri="{FF2B5EF4-FFF2-40B4-BE49-F238E27FC236}">
                <a16:creationId xmlns:a16="http://schemas.microsoft.com/office/drawing/2014/main" id="{0917E639-5738-4605-929E-1222198314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תמונה 3" descr="מעבדת מדעים">
            <a:extLst>
              <a:ext uri="{FF2B5EF4-FFF2-40B4-BE49-F238E27FC236}">
                <a16:creationId xmlns:a16="http://schemas.microsoft.com/office/drawing/2014/main" id="{7E185DA8-778E-49D9-863D-7DB5660424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2754" r="25902"/>
          <a:stretch/>
        </p:blipFill>
        <p:spPr>
          <a:xfrm flipH="1">
            <a:off x="-3" y="224440"/>
            <a:ext cx="12184112" cy="6783188"/>
          </a:xfrm>
          <a:prstGeom prst="rect">
            <a:avLst/>
          </a:prstGeom>
        </p:spPr>
      </p:pic>
      <p:sp>
        <p:nvSpPr>
          <p:cNvPr id="32" name="מלבן 31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31526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06582" y="-4"/>
            <a:ext cx="8891788" cy="829237"/>
          </a:xfrm>
        </p:spPr>
        <p:txBody>
          <a:bodyPr rtlCol="1">
            <a:normAutofit fontScale="90000"/>
          </a:bodyPr>
          <a:lstStyle/>
          <a:p>
            <a:pPr algn="r"/>
            <a:r>
              <a:rPr lang="he-IL" dirty="0"/>
              <a:t/>
            </a:r>
            <a:br>
              <a:rPr lang="he-IL" dirty="0"/>
            </a:br>
            <a:r>
              <a:rPr lang="he-IL" b="1" dirty="0"/>
              <a:t>בטיחות בעבודה עם חומצות ובסיסים-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909830" y="829233"/>
            <a:ext cx="10364452" cy="342410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he-IL" dirty="0" smtClean="0"/>
              <a:t>חשוב </a:t>
            </a:r>
            <a:r>
              <a:rPr lang="he-IL" dirty="0"/>
              <a:t>להקפיד על כללי זהירות בעת הטיפול בחומצות </a:t>
            </a:r>
            <a:r>
              <a:rPr lang="he-IL" dirty="0" smtClean="0"/>
              <a:t>ובבסיסים</a:t>
            </a:r>
            <a:r>
              <a:rPr lang="he-IL" dirty="0"/>
              <a:t>. זאת משום </a:t>
            </a:r>
            <a:r>
              <a:rPr lang="he-IL" dirty="0" smtClean="0"/>
              <a:t>שהם חומרים </a:t>
            </a:r>
            <a:r>
              <a:rPr lang="he-IL" dirty="0"/>
              <a:t>פעילים, המגיבים עם תרכובות רבות ולעיתים עלולים לפגוע קשות </a:t>
            </a:r>
            <a:r>
              <a:rPr lang="he-IL" dirty="0" smtClean="0"/>
              <a:t>בעור הקרקפת.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חומצות </a:t>
            </a:r>
            <a:r>
              <a:rPr lang="he-IL" dirty="0"/>
              <a:t>ובסיסים הנמצאים במספרה הם חומרים המגיבים עם השיער ומשנים </a:t>
            </a:r>
            <a:r>
              <a:rPr lang="he-IL" dirty="0" smtClean="0"/>
              <a:t>את מבנהו </a:t>
            </a:r>
            <a:r>
              <a:rPr lang="he-IL" dirty="0"/>
              <a:t>בפעולות סלסול, יישור או שינוי </a:t>
            </a:r>
            <a:r>
              <a:rPr lang="he-IL" dirty="0" smtClean="0"/>
              <a:t>צבע. </a:t>
            </a:r>
          </a:p>
          <a:p>
            <a:pPr>
              <a:lnSpc>
                <a:spcPct val="150000"/>
              </a:lnSpc>
            </a:pPr>
            <a:r>
              <a:rPr lang="he-IL" dirty="0"/>
              <a:t>הבנת אופן הפעולה של משפחות חומרים אלה תתרום רבות לאיכות וליעילות </a:t>
            </a:r>
            <a:r>
              <a:rPr lang="he-IL" dirty="0" smtClean="0"/>
              <a:t>הטיפול בשיער</a:t>
            </a:r>
            <a:r>
              <a:rPr lang="he-IL" dirty="0"/>
              <a:t>. ריכוז נכון שלהם ייתן את העיצוב, הברק, </a:t>
            </a:r>
            <a:r>
              <a:rPr lang="he-IL" dirty="0" smtClean="0"/>
              <a:t>הצבע </a:t>
            </a:r>
            <a:r>
              <a:rPr lang="he-IL" dirty="0"/>
              <a:t>והרכות המצופים ואילו עבודה עם חומצות ובסיסים בריכוז גבוה יפגעו (</a:t>
            </a:r>
            <a:r>
              <a:rPr lang="he-IL" dirty="0" smtClean="0"/>
              <a:t>עד מצב </a:t>
            </a:r>
            <a:r>
              <a:rPr lang="he-IL" dirty="0"/>
              <a:t>של כוויות) בעור הקרקפת ובשיער עצמו</a:t>
            </a:r>
            <a:r>
              <a:rPr lang="he-IL" dirty="0" smtClean="0"/>
              <a:t>.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מלבן 19">
            <a:extLst>
              <a:ext uri="{FF2B5EF4-FFF2-40B4-BE49-F238E27FC236}">
                <a16:creationId xmlns:a16="http://schemas.microsoft.com/office/drawing/2014/main" id="{5E630259-2E99-42C6-925A-ED71BD9ED2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 useBgFill="1">
        <p:nvSpPr>
          <p:cNvPr id="22" name="מלבן 21">
            <a:extLst>
              <a:ext uri="{FF2B5EF4-FFF2-40B4-BE49-F238E27FC236}">
                <a16:creationId xmlns:a16="http://schemas.microsoft.com/office/drawing/2014/main" id="{CD7ECD05-B4E0-4A46-AE36-17B3B1B208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4" name="תמונה 23">
            <a:extLst>
              <a:ext uri="{FF2B5EF4-FFF2-40B4-BE49-F238E27FC236}">
                <a16:creationId xmlns:a16="http://schemas.microsoft.com/office/drawing/2014/main" id="{210643E1-7ABA-4C1E-A734-A26C5D7041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224443" y="1314449"/>
            <a:ext cx="3682537" cy="4073627"/>
          </a:xfrm>
          <a:noFill/>
        </p:spPr>
        <p:txBody>
          <a:bodyPr rtlCol="1">
            <a:normAutofit/>
          </a:bodyPr>
          <a:lstStyle/>
          <a:p>
            <a:pPr algn="r"/>
            <a:r>
              <a:rPr lang="he-IL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בטבלה </a:t>
            </a:r>
            <a:r>
              <a:rPr lang="he-IL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שלהלן נציין את עיקרי השפעת החומצות והבסיסים על השיער.</a:t>
            </a:r>
            <a:endParaRPr lang="he-IL" sz="400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36702"/>
              </p:ext>
            </p:extLst>
          </p:nvPr>
        </p:nvGraphicFramePr>
        <p:xfrm>
          <a:off x="4788408" y="1314449"/>
          <a:ext cx="6381402" cy="50660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189315">
                  <a:extLst>
                    <a:ext uri="{9D8B030D-6E8A-4147-A177-3AD203B41FA5}">
                      <a16:colId xmlns:a16="http://schemas.microsoft.com/office/drawing/2014/main" val="2251527324"/>
                    </a:ext>
                  </a:extLst>
                </a:gridCol>
                <a:gridCol w="3192087">
                  <a:extLst>
                    <a:ext uri="{9D8B030D-6E8A-4147-A177-3AD203B41FA5}">
                      <a16:colId xmlns:a16="http://schemas.microsoft.com/office/drawing/2014/main" val="753755352"/>
                    </a:ext>
                  </a:extLst>
                </a:gridCol>
              </a:tblGrid>
              <a:tr h="580703"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חומצות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בסיסים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610493"/>
                  </a:ext>
                </a:extLst>
              </a:tr>
              <a:tr h="580703">
                <a:tc gridSpan="2"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ריכוז</a:t>
                      </a:r>
                      <a:r>
                        <a:rPr lang="he-IL" baseline="0" dirty="0" smtClean="0"/>
                        <a:t> גבוה</a:t>
                      </a:r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20849"/>
                  </a:ext>
                </a:extLst>
              </a:tr>
              <a:tr h="580703"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הורס את תאי העור.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פוגע בשיער עד כדי שבירה.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062453"/>
                  </a:ext>
                </a:extLst>
              </a:tr>
              <a:tr h="58070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 smtClean="0"/>
                        <a:t>פוגע במבנה השערה ומפרק את מרכיביה .</a:t>
                      </a:r>
                    </a:p>
                    <a:p>
                      <a:pPr algn="ct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צורב את תאי העור והורס אותם.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02357"/>
                  </a:ext>
                </a:extLst>
              </a:tr>
              <a:tr h="580703">
                <a:tc gridSpan="2"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ריכוז נמוך</a:t>
                      </a:r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023972"/>
                  </a:ext>
                </a:extLst>
              </a:tr>
              <a:tr h="580703"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מכווץ את השיער התפוח </a:t>
                      </a:r>
                    </a:p>
                    <a:p>
                      <a:pPr algn="ctr" rtl="1"/>
                      <a:r>
                        <a:rPr lang="he-IL" dirty="0" smtClean="0"/>
                        <a:t>(תמיסת מעצב שיער חמוצה מעדנת את השיער התפוח לאחר חפיפה).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מתפיח את השיער </a:t>
                      </a:r>
                    </a:p>
                    <a:p>
                      <a:pPr algn="ctr" rtl="1"/>
                      <a:r>
                        <a:rPr lang="he-IL" dirty="0" smtClean="0"/>
                        <a:t>(בתהליך סלסול, לדוגמה)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46102"/>
                  </a:ext>
                </a:extLst>
              </a:tr>
              <a:tr h="580703"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תמיסה חומצית חלשה מחזירה ברק לשיער.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הורס את ברק השערה על ידי המסת השומן המצפה אותה.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655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77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מלבן 19">
            <a:extLst>
              <a:ext uri="{FF2B5EF4-FFF2-40B4-BE49-F238E27FC236}">
                <a16:creationId xmlns:a16="http://schemas.microsoft.com/office/drawing/2014/main" id="{5E630259-2E99-42C6-925A-ED71BD9ED2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 useBgFill="1">
        <p:nvSpPr>
          <p:cNvPr id="22" name="מלבן 21">
            <a:extLst>
              <a:ext uri="{FF2B5EF4-FFF2-40B4-BE49-F238E27FC236}">
                <a16:creationId xmlns:a16="http://schemas.microsoft.com/office/drawing/2014/main" id="{CD7ECD05-B4E0-4A46-AE36-17B3B1B208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4" name="תמונה 23">
            <a:extLst>
              <a:ext uri="{FF2B5EF4-FFF2-40B4-BE49-F238E27FC236}">
                <a16:creationId xmlns:a16="http://schemas.microsoft.com/office/drawing/2014/main" id="{210643E1-7ABA-4C1E-A734-A26C5D7041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913774" y="2214694"/>
            <a:ext cx="10364452" cy="34241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dirty="0" smtClean="0"/>
              <a:t>כאשר </a:t>
            </a:r>
            <a:r>
              <a:rPr lang="he-IL" dirty="0"/>
              <a:t>מבינים את תהליך הסתירה מבינים עד כמה חשוב לשטוף היטב את </a:t>
            </a:r>
            <a:r>
              <a:rPr lang="he-IL" dirty="0" smtClean="0"/>
              <a:t>השיער במים</a:t>
            </a:r>
            <a:r>
              <a:rPr lang="he-IL" dirty="0"/>
              <a:t>, במעבר מתמיסה בסיסית לתמיסה חומצית ולהיפך</a:t>
            </a:r>
            <a:r>
              <a:rPr lang="he-IL" dirty="0" smtClean="0"/>
              <a:t>. בשטיפה </a:t>
            </a:r>
            <a:r>
              <a:rPr lang="he-IL" dirty="0"/>
              <a:t>לא יעילה, החומרים לא יפעלו כצפוי. הבסיס יגיב עם החומצה או </a:t>
            </a:r>
            <a:r>
              <a:rPr lang="he-IL" dirty="0" smtClean="0"/>
              <a:t>להיפך ויתקיים </a:t>
            </a:r>
            <a:r>
              <a:rPr lang="he-IL" dirty="0"/>
              <a:t>תהליך של סתירה. על השיער יתקבל מלח שהוא תוצאת התגובה בין </a:t>
            </a:r>
            <a:r>
              <a:rPr lang="he-IL" dirty="0" smtClean="0"/>
              <a:t>חומצה ובסיס</a:t>
            </a:r>
            <a:r>
              <a:rPr lang="he-IL" dirty="0"/>
              <a:t>, ובמקום לקבל את התגובה הצפויה של הסלסול, תתבטל כל פעולת </a:t>
            </a:r>
            <a:r>
              <a:rPr lang="he-IL" dirty="0" smtClean="0"/>
              <a:t>הסלסול. </a:t>
            </a:r>
          </a:p>
        </p:txBody>
      </p:sp>
      <p:sp>
        <p:nvSpPr>
          <p:cNvPr id="4" name="כותרת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סתירה כימית במספרה- </a:t>
            </a:r>
          </a:p>
        </p:txBody>
      </p:sp>
    </p:spTree>
    <p:extLst>
      <p:ext uri="{BB962C8B-B14F-4D97-AF65-F5344CB8AC3E}">
        <p14:creationId xmlns:p14="http://schemas.microsoft.com/office/powerpoint/2010/main" val="94138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797395" y="161318"/>
            <a:ext cx="10364451" cy="1010778"/>
          </a:xfrm>
        </p:spPr>
        <p:txBody>
          <a:bodyPr>
            <a:normAutofit/>
          </a:bodyPr>
          <a:lstStyle/>
          <a:p>
            <a:r>
              <a:rPr lang="he-IL" dirty="0"/>
              <a:t>רמת חומציות – </a:t>
            </a:r>
            <a:r>
              <a:rPr lang="en-US" dirty="0"/>
              <a:t>PH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sz="quarter" idx="13"/>
          </p:nvPr>
        </p:nvSpPr>
        <p:spPr>
          <a:xfrm flipH="1">
            <a:off x="74815" y="1126795"/>
            <a:ext cx="11568542" cy="5731205"/>
          </a:xfrm>
        </p:spPr>
        <p:txBody>
          <a:bodyPr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he-IL" sz="1400" dirty="0" smtClean="0"/>
              <a:t>      יש </a:t>
            </a:r>
            <a:r>
              <a:rPr lang="he-IL" sz="1400" dirty="0"/>
              <a:t>חשיבות רבה לקביעת מידת החומציות והבסיסיות </a:t>
            </a:r>
            <a:r>
              <a:rPr lang="he-IL" sz="1400" dirty="0" smtClean="0"/>
              <a:t>של חומצות </a:t>
            </a:r>
            <a:r>
              <a:rPr lang="he-IL" sz="1400" dirty="0"/>
              <a:t>ובסיסים שונים. </a:t>
            </a:r>
            <a:endParaRPr lang="he-IL" sz="1400" dirty="0" smtClean="0"/>
          </a:p>
          <a:p>
            <a:pPr marL="0" indent="0">
              <a:lnSpc>
                <a:spcPct val="160000"/>
              </a:lnSpc>
              <a:buNone/>
            </a:pPr>
            <a:r>
              <a:rPr lang="he-IL" sz="1400" dirty="0" smtClean="0"/>
              <a:t>במספרה </a:t>
            </a:r>
            <a:r>
              <a:rPr lang="he-IL" sz="1400" dirty="0"/>
              <a:t>יש לכך חשיבות מיוחדת בשל העובדה </a:t>
            </a:r>
            <a:r>
              <a:rPr lang="he-IL" sz="1400" dirty="0" smtClean="0"/>
              <a:t>שרמת החומציות </a:t>
            </a:r>
            <a:r>
              <a:rPr lang="he-IL" sz="1400" dirty="0"/>
              <a:t>משפיעה על מבנה וצורת השיער</a:t>
            </a:r>
            <a:r>
              <a:rPr lang="he-IL" sz="14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he-IL" sz="1400" dirty="0"/>
              <a:t>המדענים פיתחו מערכת מספרית המגדירה את רמת החומציות או הבסיסיות </a:t>
            </a:r>
            <a:r>
              <a:rPr lang="he-IL" sz="1400" dirty="0" smtClean="0"/>
              <a:t>של תמיסות </a:t>
            </a:r>
            <a:r>
              <a:rPr lang="he-IL" sz="1400" dirty="0"/>
              <a:t>המשתרעת על פני התחום </a:t>
            </a:r>
            <a:r>
              <a:rPr lang="he-IL" sz="1400" dirty="0" smtClean="0"/>
              <a:t>0-14.</a:t>
            </a:r>
          </a:p>
          <a:p>
            <a:pPr>
              <a:lnSpc>
                <a:spcPct val="160000"/>
              </a:lnSpc>
            </a:pPr>
            <a:endParaRPr lang="he-IL" sz="1400" dirty="0" smtClean="0"/>
          </a:p>
          <a:p>
            <a:pPr marL="0" indent="0">
              <a:lnSpc>
                <a:spcPct val="160000"/>
              </a:lnSpc>
              <a:buNone/>
            </a:pPr>
            <a:r>
              <a:rPr lang="he-IL" sz="1400" dirty="0" smtClean="0"/>
              <a:t>כאשר </a:t>
            </a:r>
            <a:r>
              <a:rPr lang="he-IL" sz="1400" dirty="0"/>
              <a:t>התחום שבין 0 -7 הוא </a:t>
            </a:r>
            <a:r>
              <a:rPr lang="he-IL" sz="1400" dirty="0" smtClean="0"/>
              <a:t>התחום החומצי. 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he-IL" sz="1400" dirty="0" smtClean="0"/>
              <a:t>והתחום </a:t>
            </a:r>
            <a:r>
              <a:rPr lang="he-IL" sz="1400" dirty="0"/>
              <a:t>שבין 7 -14 הוא התחום הבסיסי. </a:t>
            </a:r>
            <a:endParaRPr lang="he-IL" sz="1400" dirty="0" smtClean="0"/>
          </a:p>
          <a:p>
            <a:pPr marL="0" indent="0">
              <a:lnSpc>
                <a:spcPct val="160000"/>
              </a:lnSpc>
              <a:buNone/>
            </a:pPr>
            <a:endParaRPr lang="he-IL" sz="1400" dirty="0" smtClean="0"/>
          </a:p>
          <a:p>
            <a:pPr>
              <a:lnSpc>
                <a:spcPct val="160000"/>
              </a:lnSpc>
            </a:pPr>
            <a:r>
              <a:rPr lang="he-IL" sz="1400" dirty="0"/>
              <a:t>לרמת החומציות </a:t>
            </a:r>
            <a:r>
              <a:rPr lang="he-IL" sz="1400" dirty="0" smtClean="0"/>
              <a:t>והבסיסיות</a:t>
            </a:r>
            <a:r>
              <a:rPr lang="en-US" sz="1400" dirty="0" smtClean="0"/>
              <a:t>(</a:t>
            </a:r>
            <a:r>
              <a:rPr lang="en-US" sz="1400" dirty="0" err="1" smtClean="0"/>
              <a:t>ph</a:t>
            </a:r>
            <a:r>
              <a:rPr lang="en-US" sz="1400" dirty="0"/>
              <a:t>) </a:t>
            </a:r>
            <a:r>
              <a:rPr lang="he-IL" sz="1400" dirty="0" smtClean="0"/>
              <a:t> חשיבות </a:t>
            </a:r>
            <a:r>
              <a:rPr lang="he-IL" sz="1400" dirty="0"/>
              <a:t>מרובה בכל הנוגע לתהליכים הכימיים </a:t>
            </a:r>
            <a:r>
              <a:rPr lang="he-IL" sz="1400" dirty="0" smtClean="0"/>
              <a:t>של </a:t>
            </a:r>
            <a:r>
              <a:rPr lang="he-IL" sz="1400" dirty="0"/>
              <a:t>עיצוב השיער.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he-IL" sz="1400" dirty="0" smtClean="0"/>
              <a:t>ניתן </a:t>
            </a:r>
            <a:r>
              <a:rPr lang="he-IL" sz="1400" dirty="0"/>
              <a:t>לבדוק אותה בעזרת מכשירים או בוחנים, המבטאים את </a:t>
            </a:r>
            <a:r>
              <a:rPr lang="he-IL" sz="1400" dirty="0" smtClean="0"/>
              <a:t>הדרגות השונות </a:t>
            </a:r>
            <a:r>
              <a:rPr lang="he-IL" sz="1400" dirty="0"/>
              <a:t>על ידי שינוי צבע</a:t>
            </a:r>
            <a:r>
              <a:rPr lang="he-IL" sz="1400" dirty="0" smtClean="0"/>
              <a:t>. </a:t>
            </a:r>
          </a:p>
          <a:p>
            <a:pPr>
              <a:lnSpc>
                <a:spcPct val="160000"/>
              </a:lnSpc>
            </a:pPr>
            <a:r>
              <a:rPr lang="he-IL" sz="1400" dirty="0" smtClean="0"/>
              <a:t>תהליכי </a:t>
            </a:r>
            <a:r>
              <a:rPr lang="he-IL" sz="1400" dirty="0"/>
              <a:t>הצביעה והסלסול של השיער מבוקרים על ידי רמת החומציות. כל </a:t>
            </a:r>
            <a:r>
              <a:rPr lang="he-IL" sz="1400" dirty="0" smtClean="0"/>
              <a:t>שלב בתהליך </a:t>
            </a:r>
            <a:r>
              <a:rPr lang="he-IL" sz="1400" dirty="0"/>
              <a:t>מושפע מנוכחות יוני </a:t>
            </a:r>
            <a:r>
              <a:rPr lang="he-IL" sz="1400" dirty="0" smtClean="0"/>
              <a:t>+</a:t>
            </a:r>
            <a:r>
              <a:rPr lang="en-US" sz="1400" dirty="0" smtClean="0"/>
              <a:t>H</a:t>
            </a:r>
            <a:r>
              <a:rPr lang="he-IL" sz="1400" dirty="0" smtClean="0"/>
              <a:t> </a:t>
            </a:r>
            <a:r>
              <a:rPr lang="en-US" sz="1400" dirty="0" smtClean="0"/>
              <a:t> </a:t>
            </a:r>
            <a:r>
              <a:rPr lang="he-IL" sz="1400" dirty="0"/>
              <a:t>או מהעדרם. להצלחת הטיפולים יש להקפיד </a:t>
            </a:r>
            <a:r>
              <a:rPr lang="he-IL" sz="1400" dirty="0" smtClean="0"/>
              <a:t>על שטיפה </a:t>
            </a:r>
            <a:r>
              <a:rPr lang="he-IL" sz="1400" dirty="0"/>
              <a:t>במים בין שלבי הטיפול, כדי להתחיל כל שלב מרמת </a:t>
            </a:r>
            <a:r>
              <a:rPr lang="en-US" sz="1400" dirty="0" smtClean="0"/>
              <a:t> </a:t>
            </a:r>
            <a:r>
              <a:rPr lang="en-US" sz="1400" dirty="0" err="1" smtClean="0"/>
              <a:t>ph</a:t>
            </a:r>
            <a:r>
              <a:rPr lang="en-US" sz="1400" dirty="0" smtClean="0"/>
              <a:t> </a:t>
            </a:r>
            <a:r>
              <a:rPr lang="he-IL" sz="1400" dirty="0" smtClean="0"/>
              <a:t>ניטרלית ולהימנע על </a:t>
            </a:r>
            <a:r>
              <a:rPr lang="he-IL" sz="1400" dirty="0"/>
              <a:t>ידי כך סתירה כימית.</a:t>
            </a:r>
          </a:p>
        </p:txBody>
      </p:sp>
      <p:grpSp>
        <p:nvGrpSpPr>
          <p:cNvPr id="7" name="קבוצה 6"/>
          <p:cNvGrpSpPr/>
          <p:nvPr/>
        </p:nvGrpSpPr>
        <p:grpSpPr>
          <a:xfrm>
            <a:off x="2128492" y="2987510"/>
            <a:ext cx="4937326" cy="1004887"/>
            <a:chOff x="1816848" y="3125585"/>
            <a:chExt cx="4130992" cy="871884"/>
          </a:xfrm>
        </p:grpSpPr>
        <p:pic>
          <p:nvPicPr>
            <p:cNvPr id="4" name="תמונה 3"/>
            <p:cNvPicPr>
              <a:picLocks noChangeAspect="1"/>
            </p:cNvPicPr>
            <p:nvPr/>
          </p:nvPicPr>
          <p:blipFill rotWithShape="1">
            <a:blip r:embed="rId2"/>
            <a:srcRect t="19662"/>
            <a:stretch/>
          </p:blipFill>
          <p:spPr>
            <a:xfrm>
              <a:off x="1816848" y="3125585"/>
              <a:ext cx="4130992" cy="871884"/>
            </a:xfrm>
            <a:prstGeom prst="rect">
              <a:avLst/>
            </a:prstGeom>
          </p:spPr>
        </p:pic>
        <p:sp>
          <p:nvSpPr>
            <p:cNvPr id="5" name="מלבן 4"/>
            <p:cNvSpPr/>
            <p:nvPr/>
          </p:nvSpPr>
          <p:spPr>
            <a:xfrm>
              <a:off x="1911927" y="3561527"/>
              <a:ext cx="152123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he-IL" sz="1050" b="1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חומצה</a:t>
              </a:r>
              <a:endParaRPr lang="he-IL" sz="105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מלבן 5"/>
            <p:cNvSpPr/>
            <p:nvPr/>
          </p:nvSpPr>
          <p:spPr>
            <a:xfrm>
              <a:off x="4034441" y="3561527"/>
              <a:ext cx="1759529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he-IL" sz="1050" b="1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בסיס</a:t>
              </a:r>
              <a:endParaRPr lang="he-IL" sz="105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6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81659" y="427325"/>
            <a:ext cx="10364451" cy="1596177"/>
          </a:xfrm>
        </p:spPr>
        <p:txBody>
          <a:bodyPr/>
          <a:lstStyle/>
          <a:p>
            <a:r>
              <a:rPr lang="he-IL" dirty="0"/>
              <a:t>מושגים</a:t>
            </a:r>
            <a:r>
              <a:rPr lang="he-IL" dirty="0" smtClean="0"/>
              <a:t>: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sz="quarter" idx="13"/>
          </p:nvPr>
        </p:nvSpPr>
        <p:spPr>
          <a:xfrm flipH="1">
            <a:off x="773082" y="1737360"/>
            <a:ext cx="10781607" cy="409540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 -PH</a:t>
            </a:r>
            <a:r>
              <a:rPr lang="he-IL" dirty="0" smtClean="0"/>
              <a:t>סולם </a:t>
            </a:r>
            <a:r>
              <a:rPr lang="he-IL" dirty="0"/>
              <a:t>מדידה בינלאומי, המודד חומצות ובסיסים בחומרים</a:t>
            </a:r>
            <a:r>
              <a:rPr lang="he-IL" dirty="0" smtClean="0"/>
              <a:t>.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ניר </a:t>
            </a:r>
            <a:r>
              <a:rPr lang="he-IL" dirty="0"/>
              <a:t>לקמוס - נייר הבודק חומצות ובסיסים</a:t>
            </a:r>
            <a:r>
              <a:rPr lang="he-IL" dirty="0" smtClean="0"/>
              <a:t>. 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בסביבה חומצית – נייר הלקמוס הופך לאדום.</a:t>
            </a:r>
            <a:r>
              <a:rPr lang="en-US" dirty="0" smtClean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בסביבה בסיסית </a:t>
            </a:r>
            <a:r>
              <a:rPr lang="he-IL" dirty="0" err="1" smtClean="0"/>
              <a:t>אלקאלית</a:t>
            </a:r>
            <a:r>
              <a:rPr lang="he-IL" dirty="0" smtClean="0"/>
              <a:t> - נייר הלקמוס הופך כחול.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he-IL" dirty="0" smtClean="0"/>
              <a:t>חומצה </a:t>
            </a:r>
            <a:r>
              <a:rPr lang="he-IL" dirty="0"/>
              <a:t>- תמיסות שמכילות יוני מימן בריכוז גדול יותר מאשר במים</a:t>
            </a:r>
            <a:r>
              <a:rPr lang="he-IL" dirty="0" smtClean="0"/>
              <a:t>.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בסיס </a:t>
            </a:r>
            <a:r>
              <a:rPr lang="he-IL" dirty="0"/>
              <a:t>- אלקאלי, תמיסות שמכילות יוני מימן בריכוז קטן יותר מאשר במים</a:t>
            </a:r>
            <a:r>
              <a:rPr lang="he-IL" dirty="0" smtClean="0"/>
              <a:t>.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ניטרלי-מים </a:t>
            </a:r>
            <a:r>
              <a:rPr lang="he-IL" dirty="0"/>
              <a:t>שעברו תהליך זיקוק, חומר שאינו בסיסי ואינו חומצי</a:t>
            </a:r>
            <a:r>
              <a:rPr lang="he-IL" dirty="0" smtClean="0"/>
              <a:t>.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מלח–תוצאה </a:t>
            </a:r>
            <a:r>
              <a:rPr lang="he-IL" dirty="0"/>
              <a:t>של ערבוב חומר חומצי עם חומר בסיסי</a:t>
            </a:r>
            <a:r>
              <a:rPr lang="he-IL" dirty="0" smtClean="0"/>
              <a:t>.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85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914400" y="402386"/>
            <a:ext cx="10364451" cy="1596177"/>
          </a:xfrm>
        </p:spPr>
        <p:txBody>
          <a:bodyPr/>
          <a:lstStyle/>
          <a:p>
            <a:r>
              <a:rPr lang="he-IL" dirty="0"/>
              <a:t>שאלות חזרה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sz="quarter" idx="13"/>
          </p:nvPr>
        </p:nvSpPr>
        <p:spPr>
          <a:xfrm flipH="1">
            <a:off x="914400" y="1803862"/>
            <a:ext cx="10582102" cy="398733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1</a:t>
            </a:r>
            <a:r>
              <a:rPr lang="en-US" dirty="0" smtClean="0"/>
              <a:t> </a:t>
            </a:r>
            <a:r>
              <a:rPr lang="he-IL" dirty="0" smtClean="0"/>
              <a:t>. </a:t>
            </a:r>
            <a:r>
              <a:rPr lang="he-IL" dirty="0"/>
              <a:t>באיזה ערכים בסולם ה-</a:t>
            </a:r>
            <a:r>
              <a:rPr lang="en-US" dirty="0" err="1"/>
              <a:t>ph</a:t>
            </a:r>
            <a:r>
              <a:rPr lang="en-US" dirty="0"/>
              <a:t> </a:t>
            </a:r>
            <a:r>
              <a:rPr lang="he-IL" dirty="0" smtClean="0"/>
              <a:t> נמצאים </a:t>
            </a:r>
            <a:r>
              <a:rPr lang="he-IL" dirty="0"/>
              <a:t>החומרים </a:t>
            </a:r>
            <a:r>
              <a:rPr lang="he-IL" dirty="0" smtClean="0"/>
              <a:t>הבסיסיים?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2. </a:t>
            </a:r>
            <a:r>
              <a:rPr lang="he-IL" dirty="0"/>
              <a:t>באיזה ערכים </a:t>
            </a:r>
            <a:r>
              <a:rPr lang="he-IL" dirty="0" smtClean="0"/>
              <a:t>בסולם</a:t>
            </a:r>
            <a:r>
              <a:rPr lang="en-US" dirty="0" smtClean="0"/>
              <a:t> </a:t>
            </a:r>
            <a:r>
              <a:rPr lang="he-IL" dirty="0" smtClean="0"/>
              <a:t>ה-</a:t>
            </a:r>
            <a:r>
              <a:rPr lang="en-US" dirty="0" smtClean="0"/>
              <a:t> </a:t>
            </a:r>
            <a:r>
              <a:rPr lang="en-US" dirty="0" err="1" smtClean="0"/>
              <a:t>ph</a:t>
            </a:r>
            <a:r>
              <a:rPr lang="en-US" dirty="0" smtClean="0"/>
              <a:t> </a:t>
            </a:r>
            <a:r>
              <a:rPr lang="he-IL" dirty="0" smtClean="0"/>
              <a:t>נמצאים </a:t>
            </a:r>
            <a:r>
              <a:rPr lang="he-IL" dirty="0"/>
              <a:t>החומרים </a:t>
            </a:r>
            <a:r>
              <a:rPr lang="he-IL" dirty="0" smtClean="0"/>
              <a:t>החומציים?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3</a:t>
            </a:r>
            <a:r>
              <a:rPr lang="he-IL" dirty="0"/>
              <a:t>. מה פרוש המילה </a:t>
            </a:r>
            <a:r>
              <a:rPr lang="he-IL" dirty="0" smtClean="0"/>
              <a:t>ניטרלי</a:t>
            </a:r>
            <a:r>
              <a:rPr lang="he-IL" dirty="0"/>
              <a:t>?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4</a:t>
            </a:r>
            <a:r>
              <a:rPr lang="he-IL" dirty="0"/>
              <a:t>. מהי השפעתו של חומר בסיסי על </a:t>
            </a:r>
            <a:r>
              <a:rPr lang="he-IL" dirty="0" smtClean="0"/>
              <a:t>השיער</a:t>
            </a:r>
            <a:r>
              <a:rPr lang="he-IL" dirty="0"/>
              <a:t>?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5</a:t>
            </a:r>
            <a:r>
              <a:rPr lang="he-IL" dirty="0"/>
              <a:t>. כיצד נוצרים מלחים על </a:t>
            </a:r>
            <a:r>
              <a:rPr lang="he-IL" dirty="0" smtClean="0"/>
              <a:t>השיער</a:t>
            </a:r>
            <a:r>
              <a:rPr lang="he-IL" dirty="0"/>
              <a:t>?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6</a:t>
            </a:r>
            <a:r>
              <a:rPr lang="he-IL" dirty="0"/>
              <a:t>. מהי השפעתו של חומר חומצי על </a:t>
            </a:r>
            <a:r>
              <a:rPr lang="he-IL" dirty="0" smtClean="0"/>
              <a:t>השיער?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7</a:t>
            </a:r>
            <a:r>
              <a:rPr lang="he-IL" dirty="0"/>
              <a:t>. מה גורמים מלחים </a:t>
            </a:r>
            <a:r>
              <a:rPr lang="he-IL" dirty="0" smtClean="0"/>
              <a:t>לשיער</a:t>
            </a:r>
            <a:r>
              <a:rPr lang="he-IL" dirty="0"/>
              <a:t>?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8. מדוע על מעצב השיער לדעת את ערכם של החומרים במספרה במדד ה</a:t>
            </a:r>
            <a:r>
              <a:rPr lang="en-US" dirty="0" smtClean="0"/>
              <a:t>-</a:t>
            </a:r>
            <a:r>
              <a:rPr lang="he-IL" dirty="0" smtClean="0"/>
              <a:t> </a:t>
            </a:r>
            <a:r>
              <a:rPr lang="en-US" dirty="0" smtClean="0"/>
              <a:t> PH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0691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תמונה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תמונה 47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0" name="מלבן 49">
            <a:extLst>
              <a:ext uri="{FF2B5EF4-FFF2-40B4-BE49-F238E27FC236}">
                <a16:creationId xmlns:a16="http://schemas.microsoft.com/office/drawing/2014/main" id="{2255CADE-DCE0-447F-B290-2AE78E5E55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2" name="תמונה 2">
            <a:extLst>
              <a:ext uri="{FF2B5EF4-FFF2-40B4-BE49-F238E27FC236}">
                <a16:creationId xmlns:a16="http://schemas.microsoft.com/office/drawing/2014/main" id="{240987D2-7FAC-4B65-A97B-0EAADE73BB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2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מציין מיקום של תמונה 5" descr="מעבדת מדעים">
            <a:extLst>
              <a:ext uri="{FF2B5EF4-FFF2-40B4-BE49-F238E27FC236}">
                <a16:creationId xmlns:a16="http://schemas.microsoft.com/office/drawing/2014/main" id="{2543122C-30CE-4CD2-B15E-CA20AE39CC4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64" r="2" b="2"/>
          <a:stretch/>
        </p:blipFill>
        <p:spPr>
          <a:xfrm flipH="1">
            <a:off x="5258939" y="10"/>
            <a:ext cx="6924201" cy="6857990"/>
          </a:xfrm>
          <a:prstGeom prst="rect">
            <a:avLst/>
          </a:prstGeom>
        </p:spPr>
      </p:pic>
      <p:sp>
        <p:nvSpPr>
          <p:cNvPr id="54" name="מלבן 53">
            <a:extLst>
              <a:ext uri="{FF2B5EF4-FFF2-40B4-BE49-F238E27FC236}">
                <a16:creationId xmlns:a16="http://schemas.microsoft.com/office/drawing/2014/main" id="{4245587C-701C-48A1-9B6B-10C3DF81A87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77626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6" name="תמונה 55">
            <a:extLst>
              <a:ext uri="{FF2B5EF4-FFF2-40B4-BE49-F238E27FC236}">
                <a16:creationId xmlns:a16="http://schemas.microsoft.com/office/drawing/2014/main" id="{2E5CF545-7AAF-4A13-8871-089E929E85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" y="0"/>
            <a:ext cx="12192000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12B77B0A-41A1-428C-897D-2AEE4B4A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913774" y="427875"/>
            <a:ext cx="3707844" cy="744219"/>
          </a:xfrm>
        </p:spPr>
        <p:txBody>
          <a:bodyPr vert="horz" lIns="91440" tIns="45720" rIns="91440" bIns="45720" rtlCol="1" anchor="b">
            <a:normAutofit fontScale="90000"/>
          </a:bodyPr>
          <a:lstStyle/>
          <a:p>
            <a:pPr rtl="1"/>
            <a:r>
              <a:rPr lang="he-IL" sz="4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סיכום</a:t>
            </a:r>
            <a:endParaRPr lang="he-IL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332" y="1193520"/>
            <a:ext cx="3740728" cy="37805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dirty="0" smtClean="0"/>
              <a:t>ביחידה זו, למדנו מהן חומצות ובסיסים, למדנו את תכונותיהם בבית ובעבודה במספרה. 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למדנו איך לעבוד בטוח עם החומרים הללו במספרה.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למדנו </a:t>
            </a:r>
            <a:r>
              <a:rPr lang="he-IL" dirty="0"/>
              <a:t>את עיקרי השפעת החומצות והבסיסים על השיער</a:t>
            </a:r>
            <a:r>
              <a:rPr lang="he-IL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וכן למדנו על סולם ה-</a:t>
            </a:r>
            <a:r>
              <a:rPr lang="en-US" dirty="0" smtClean="0"/>
              <a:t>PH </a:t>
            </a:r>
            <a:r>
              <a:rPr lang="he-IL" dirty="0" smtClean="0"/>
              <a:t> ומה </a:t>
            </a:r>
            <a:r>
              <a:rPr lang="he-IL" dirty="0"/>
              <a:t>השפעתו במספרה</a:t>
            </a:r>
            <a:r>
              <a:rPr lang="he-IL" dirty="0" smtClean="0"/>
              <a:t>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8461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טיפה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443810" id="{375689FB-62FF-48AF-A0F5-7446701965F3}" vid="{0E261296-51EB-4C68-9B97-6B4CFAEE0073}"/>
    </a:ext>
  </a:extLst>
</a:theme>
</file>

<file path=ppt/theme/theme2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B31D25-712D-46FD-A9DF-85443E555627}">
  <ds:schemaRefs>
    <ds:schemaRef ds:uri="http://purl.org/dc/elements/1.1/"/>
    <ds:schemaRef ds:uri="http://schemas.openxmlformats.org/package/2006/metadata/core-properties"/>
    <ds:schemaRef ds:uri="16c05727-aa75-4e4a-9b5f-8a80a1165891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E158AC7-AA74-4FE4-9207-24EA2187AA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7E0B37-40BF-4857-B2E5-B52E6B39D4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עיצוב בסגנון מעבדה</Template>
  <TotalTime>0</TotalTime>
  <Words>642</Words>
  <Application>Microsoft Office PowerPoint</Application>
  <PresentationFormat>מסך רחב</PresentationFormat>
  <Paragraphs>73</Paragraphs>
  <Slides>10</Slides>
  <Notes>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Tahoma</vt:lpstr>
      <vt:lpstr>Tw Cen MT</vt:lpstr>
      <vt:lpstr>טיפה</vt:lpstr>
      <vt:lpstr>חומצות ובסיסים</vt:lpstr>
      <vt:lpstr>חומצות</vt:lpstr>
      <vt:lpstr>בסיסים</vt:lpstr>
      <vt:lpstr> בטיחות בעבודה עם חומצות ובסיסים-</vt:lpstr>
      <vt:lpstr>בטבלה שלהלן נציין את עיקרי השפעת החומצות והבסיסים על השיער.</vt:lpstr>
      <vt:lpstr>סתירה כימית במספרה- </vt:lpstr>
      <vt:lpstr>רמת חומציות – PH </vt:lpstr>
      <vt:lpstr>מושגים: </vt:lpstr>
      <vt:lpstr>שאלות חזרה 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2024-06-23T07:07:45Z</dcterms:created>
  <dcterms:modified xsi:type="dcterms:W3CDTF">2024-06-23T08:13:59Z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