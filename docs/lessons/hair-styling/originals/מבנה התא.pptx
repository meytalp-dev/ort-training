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547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86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248707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689695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698412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455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780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06010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910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450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553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D8CD119-5511-420B-AA5A-CB97E9B88822}" type="datetimeFigureOut">
              <a:rPr lang="he-IL" smtClean="0"/>
              <a:t>ז'/אייר/תשפ"ד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C5533C5-0C9D-4169-A71F-C18EFA8243EA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012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78522" y="907195"/>
            <a:ext cx="10318418" cy="4394988"/>
          </a:xfrm>
        </p:spPr>
        <p:txBody>
          <a:bodyPr/>
          <a:lstStyle/>
          <a:p>
            <a:r>
              <a:rPr lang="he-IL" sz="88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מבנה התא</a:t>
            </a:r>
            <a:endParaRPr lang="he-IL" sz="8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מגמת עיצוב שיער ואיפור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8526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51678" y="764771"/>
            <a:ext cx="10178322" cy="922713"/>
          </a:xfrm>
        </p:spPr>
        <p:txBody>
          <a:bodyPr/>
          <a:lstStyle/>
          <a:p>
            <a:pPr algn="ctr"/>
            <a:r>
              <a:rPr lang="he-IL" dirty="0" smtClean="0"/>
              <a:t>מטרות יחידת הלימוד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400" dirty="0" smtClean="0"/>
              <a:t>התלמיד יכיר מושגי יסוד בתהליך בניית התאים.</a:t>
            </a:r>
          </a:p>
          <a:p>
            <a:r>
              <a:rPr lang="he-IL" sz="2400" dirty="0" smtClean="0"/>
              <a:t>התלמיד ילמד על מעטפת התא ותפקידה.</a:t>
            </a:r>
          </a:p>
          <a:p>
            <a:r>
              <a:rPr lang="he-IL" sz="2400" dirty="0" smtClean="0"/>
              <a:t>התלמיד </a:t>
            </a:r>
            <a:r>
              <a:rPr lang="he-IL" sz="2400" dirty="0" smtClean="0"/>
              <a:t>ילמד על גרעין התא </a:t>
            </a:r>
            <a:r>
              <a:rPr lang="he-IL" sz="2400" dirty="0" smtClean="0"/>
              <a:t>ותפקידו.</a:t>
            </a:r>
            <a:endParaRPr lang="he-IL" sz="2400" dirty="0" smtClean="0"/>
          </a:p>
          <a:p>
            <a:r>
              <a:rPr lang="he-IL" sz="2400" dirty="0" smtClean="0"/>
              <a:t>התלמיד </a:t>
            </a:r>
            <a:r>
              <a:rPr lang="he-IL" sz="2400" dirty="0" smtClean="0"/>
              <a:t>ידע את ארבעת שלבי התפתחות בתא.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401258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51678" y="665018"/>
            <a:ext cx="10178322" cy="1492132"/>
          </a:xfrm>
        </p:spPr>
        <p:txBody>
          <a:bodyPr/>
          <a:lstStyle/>
          <a:p>
            <a:pPr algn="r"/>
            <a:r>
              <a:rPr lang="he-IL" dirty="0" smtClean="0"/>
              <a:t> </a:t>
            </a:r>
            <a:r>
              <a:rPr lang="he-IL" dirty="0" smtClean="0"/>
              <a:t>התא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36824" y="2067217"/>
            <a:ext cx="10178322" cy="3593591"/>
          </a:xfrm>
        </p:spPr>
        <p:txBody>
          <a:bodyPr>
            <a:normAutofit/>
          </a:bodyPr>
          <a:lstStyle/>
          <a:p>
            <a:r>
              <a:rPr lang="he-IL" sz="2400" dirty="0"/>
              <a:t>התא הוא יחידת היסוד של כל יצור חי. גוף האדם מורכב מכ-3 טריליוני תאים, שכל אחד מהם פועל באופן עצמאי. התאים שונים בצורתם, בגודלם ובתפקידם, אך כולם מורכבים מחלבונים, שומנים ופחמימות, מבצעים </a:t>
            </a:r>
            <a:r>
              <a:rPr lang="he-IL" sz="2400" dirty="0" smtClean="0"/>
              <a:t>מטבוליזם (חילוף חומרים) </a:t>
            </a:r>
            <a:r>
              <a:rPr lang="he-IL" sz="2400" dirty="0"/>
              <a:t>ומתרבים על ידי </a:t>
            </a:r>
            <a:r>
              <a:rPr lang="he-IL" sz="2400" dirty="0" smtClean="0"/>
              <a:t>חלוקה.</a:t>
            </a:r>
            <a:endParaRPr lang="he-IL" sz="24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60" b="86207" l="10887" r="9153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06290" y="3797511"/>
            <a:ext cx="3439390" cy="28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1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51678" y="515389"/>
            <a:ext cx="10178322" cy="1492132"/>
          </a:xfrm>
        </p:spPr>
        <p:txBody>
          <a:bodyPr/>
          <a:lstStyle/>
          <a:p>
            <a:pPr algn="r"/>
            <a:r>
              <a:rPr lang="he-IL" dirty="0" smtClean="0"/>
              <a:t>חלקי התא.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51678" y="1762300"/>
            <a:ext cx="10178322" cy="46551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e-IL" dirty="0" smtClean="0"/>
          </a:p>
          <a:p>
            <a:r>
              <a:rPr lang="he-IL" sz="2300" dirty="0" smtClean="0"/>
              <a:t>הפרוטופלזמה- הפרוטופלזמה </a:t>
            </a:r>
            <a:r>
              <a:rPr lang="he-IL" sz="2300" dirty="0"/>
              <a:t>היא החומר הבונה את התא החי. היא </a:t>
            </a:r>
            <a:r>
              <a:rPr lang="he-IL" sz="2300" dirty="0" smtClean="0"/>
              <a:t>מורכבת ברובה </a:t>
            </a:r>
            <a:r>
              <a:rPr lang="he-IL" sz="2300" dirty="0"/>
              <a:t>ממים (כ-80% בממוצע) ומחומרים אורגניים שונים </a:t>
            </a:r>
            <a:r>
              <a:rPr lang="he-IL" sz="2300" dirty="0" smtClean="0"/>
              <a:t>ורבים</a:t>
            </a:r>
            <a:r>
              <a:rPr lang="he-IL" sz="2300" dirty="0" smtClean="0"/>
              <a:t>.</a:t>
            </a:r>
          </a:p>
          <a:p>
            <a:endParaRPr lang="he-IL" sz="2300" dirty="0"/>
          </a:p>
          <a:p>
            <a:r>
              <a:rPr lang="he-IL" sz="2300" dirty="0" smtClean="0"/>
              <a:t>הגרעין - הגרעין הוא </a:t>
            </a:r>
            <a:r>
              <a:rPr lang="he-IL" sz="2300" dirty="0" smtClean="0"/>
              <a:t>דמוי </a:t>
            </a:r>
            <a:r>
              <a:rPr lang="he-IL" sz="2300" dirty="0" smtClean="0"/>
              <a:t>ביצה, </a:t>
            </a:r>
            <a:r>
              <a:rPr lang="he-IL" sz="2300" dirty="0" smtClean="0"/>
              <a:t>הוא </a:t>
            </a:r>
            <a:r>
              <a:rPr lang="he-IL" sz="2300" dirty="0" smtClean="0"/>
              <a:t>ממוקם בדרך כלל במרכז התא ומכיל חומצות גרעין המכונה דנ"א </a:t>
            </a:r>
            <a:r>
              <a:rPr lang="en-US" sz="2300" dirty="0" smtClean="0"/>
              <a:t>(</a:t>
            </a:r>
            <a:r>
              <a:rPr lang="en-US" sz="2300" dirty="0" err="1" smtClean="0"/>
              <a:t>dna</a:t>
            </a:r>
            <a:r>
              <a:rPr lang="en-US" sz="2300" dirty="0" smtClean="0"/>
              <a:t>)</a:t>
            </a:r>
            <a:r>
              <a:rPr lang="he-IL" sz="2300" dirty="0" smtClean="0"/>
              <a:t> </a:t>
            </a:r>
            <a:r>
              <a:rPr lang="he-IL" sz="2300" dirty="0" smtClean="0"/>
              <a:t>המכיל </a:t>
            </a:r>
            <a:r>
              <a:rPr lang="he-IL" sz="2300" dirty="0" smtClean="0"/>
              <a:t>את כל המידע התורשתי, הכלול </a:t>
            </a:r>
            <a:r>
              <a:rPr lang="he-IL" sz="2300" dirty="0" smtClean="0"/>
              <a:t>בסוג של </a:t>
            </a:r>
            <a:r>
              <a:rPr lang="he-IL" sz="2300" dirty="0" smtClean="0"/>
              <a:t>סיבים המכונים כרומוזומים. לכל יצור חי מספר כרומוזום האופייני לו. </a:t>
            </a:r>
            <a:r>
              <a:rPr lang="he-IL" sz="2300" dirty="0" smtClean="0"/>
              <a:t>לאדם </a:t>
            </a:r>
            <a:r>
              <a:rPr lang="he-IL" sz="2300" dirty="0" smtClean="0"/>
              <a:t>יש 46 כרומוזומים</a:t>
            </a:r>
            <a:r>
              <a:rPr lang="he-IL" sz="2300" dirty="0" smtClean="0"/>
              <a:t>.</a:t>
            </a:r>
          </a:p>
          <a:p>
            <a:endParaRPr lang="he-IL" sz="2300" dirty="0" smtClean="0"/>
          </a:p>
          <a:p>
            <a:r>
              <a:rPr lang="he-IL" sz="2300" dirty="0"/>
              <a:t>המעטפת - המעטפת היא הקרום העוטף את התא ומווסת את כניסת החומרים החיוניים </a:t>
            </a:r>
            <a:r>
              <a:rPr lang="he-IL" sz="2300" dirty="0" smtClean="0"/>
              <a:t>לפעילותו (</a:t>
            </a:r>
            <a:r>
              <a:rPr lang="he-IL" sz="2300" dirty="0"/>
              <a:t>מזון </a:t>
            </a:r>
            <a:r>
              <a:rPr lang="he-IL" sz="2300" dirty="0" smtClean="0"/>
              <a:t>וחמצן) </a:t>
            </a:r>
            <a:r>
              <a:rPr lang="he-IL" sz="2300" dirty="0"/>
              <a:t>ויציאת חומרי הפסולת הנוצרים בו</a:t>
            </a:r>
            <a:r>
              <a:rPr lang="he-IL" sz="2300" dirty="0" smtClean="0"/>
              <a:t>.</a:t>
            </a:r>
            <a:endParaRPr lang="he-IL" sz="2300" dirty="0" smtClean="0"/>
          </a:p>
          <a:p>
            <a:endParaRPr lang="he-IL" dirty="0" smtClean="0"/>
          </a:p>
          <a:p>
            <a:endParaRPr lang="he-IL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2" b="89655" l="9677" r="9233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976" y="73946"/>
            <a:ext cx="23622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2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51676" y="498764"/>
            <a:ext cx="10178322" cy="1492132"/>
          </a:xfrm>
        </p:spPr>
        <p:txBody>
          <a:bodyPr/>
          <a:lstStyle/>
          <a:p>
            <a:pPr algn="r"/>
            <a:r>
              <a:rPr lang="he-IL" dirty="0" smtClean="0"/>
              <a:t>תהליכים חיוניים בתא.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52170" y="1504603"/>
            <a:ext cx="10577333" cy="3607724"/>
          </a:xfrm>
        </p:spPr>
        <p:txBody>
          <a:bodyPr>
            <a:noAutofit/>
          </a:bodyPr>
          <a:lstStyle/>
          <a:p>
            <a:r>
              <a:rPr lang="he-IL" sz="2300" b="1" dirty="0"/>
              <a:t>חלוקת התא </a:t>
            </a:r>
            <a:r>
              <a:rPr lang="he-IL" sz="2300" dirty="0"/>
              <a:t>מתרחשת כשהתא גדל ומתחלק לשני תאים, וכך מתרבים התאים (מיטוזה</a:t>
            </a:r>
            <a:r>
              <a:rPr lang="he-IL" sz="2300" dirty="0" smtClean="0"/>
              <a:t>).</a:t>
            </a:r>
          </a:p>
          <a:p>
            <a:endParaRPr lang="he-IL" sz="2300" dirty="0" smtClean="0"/>
          </a:p>
          <a:p>
            <a:r>
              <a:rPr lang="he-IL" sz="2300" b="1" dirty="0" smtClean="0"/>
              <a:t>מיטוזה </a:t>
            </a:r>
            <a:r>
              <a:rPr lang="he-IL" sz="2300" b="1" dirty="0"/>
              <a:t>ומיוזה </a:t>
            </a:r>
            <a:r>
              <a:rPr lang="he-IL" sz="2300" dirty="0"/>
              <a:t>- חלוקת התאים הרגילים נקראת מיטוזה, ואילו חלוקת תאי המין (ביציות וזרע) נקראת מיוזה</a:t>
            </a:r>
            <a:r>
              <a:rPr lang="he-IL" sz="2300" dirty="0" smtClean="0"/>
              <a:t>. </a:t>
            </a:r>
          </a:p>
          <a:p>
            <a:endParaRPr lang="he-IL" sz="2300" dirty="0" smtClean="0"/>
          </a:p>
          <a:p>
            <a:r>
              <a:rPr lang="he-IL" sz="2300" b="1" dirty="0" smtClean="0"/>
              <a:t>חילוף </a:t>
            </a:r>
            <a:r>
              <a:rPr lang="he-IL" sz="2300" b="1" dirty="0"/>
              <a:t>החומרים </a:t>
            </a:r>
            <a:r>
              <a:rPr lang="he-IL" sz="2300" dirty="0"/>
              <a:t>כולל שני תהליכים: הטמעה (אנאבוליזם) - בניית תאים מחומרי מזון ויצירת אנרגיה, ופירוק (קטבוליזם) - פירוק חומרי התא לתרכובות פשוטות והפרשתן.</a:t>
            </a:r>
            <a:endParaRPr lang="he-IL" sz="23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 rotWithShape="1">
          <a:blip r:embed="rId2"/>
          <a:srcRect t="22325" b="5746"/>
          <a:stretch/>
        </p:blipFill>
        <p:spPr>
          <a:xfrm>
            <a:off x="4339244" y="4971011"/>
            <a:ext cx="3591097" cy="156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0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831970" y="4725445"/>
            <a:ext cx="3166454" cy="1145455"/>
          </a:xfrm>
        </p:spPr>
        <p:txBody>
          <a:bodyPr>
            <a:normAutofit/>
          </a:bodyPr>
          <a:lstStyle/>
          <a:p>
            <a:r>
              <a:rPr lang="he-IL" sz="1900" b="1" dirty="0"/>
              <a:t>רקמת שומן- </a:t>
            </a:r>
            <a:r>
              <a:rPr lang="he-IL" sz="1900" dirty="0"/>
              <a:t>מכילה תאים </a:t>
            </a:r>
            <a:r>
              <a:rPr lang="he-IL" sz="1900" i="1" dirty="0"/>
              <a:t>עם</a:t>
            </a:r>
            <a:r>
              <a:rPr lang="he-IL" sz="1900" dirty="0"/>
              <a:t> טיפות שומן המשמשים כמאגר מזון ובולם זעזועים.</a:t>
            </a:r>
          </a:p>
          <a:p>
            <a:endParaRPr lang="he-IL" dirty="0"/>
          </a:p>
        </p:txBody>
      </p:sp>
      <p:sp>
        <p:nvSpPr>
          <p:cNvPr id="9" name="מציין מיקום תוכן 3"/>
          <p:cNvSpPr txBox="1">
            <a:spLocks/>
          </p:cNvSpPr>
          <p:nvPr/>
        </p:nvSpPr>
        <p:spPr>
          <a:xfrm>
            <a:off x="1335578" y="4725445"/>
            <a:ext cx="3248196" cy="1442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900" b="1" dirty="0"/>
              <a:t>רקמות המשען- </a:t>
            </a:r>
            <a:r>
              <a:rPr lang="he-IL" sz="1900" dirty="0"/>
              <a:t>תומכות ומחברות בין רקמות ואברים שונים.</a:t>
            </a:r>
          </a:p>
          <a:p>
            <a:endParaRPr lang="he-IL" dirty="0"/>
          </a:p>
        </p:txBody>
      </p:sp>
      <p:sp>
        <p:nvSpPr>
          <p:cNvPr id="12" name="מציין מיקום תוכן 3"/>
          <p:cNvSpPr txBox="1">
            <a:spLocks/>
          </p:cNvSpPr>
          <p:nvPr/>
        </p:nvSpPr>
        <p:spPr>
          <a:xfrm>
            <a:off x="4583774" y="3392041"/>
            <a:ext cx="3248196" cy="1022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4000" b="1" dirty="0"/>
              <a:t>רקמת חיבור- </a:t>
            </a:r>
            <a:r>
              <a:rPr lang="he-IL" sz="4000" dirty="0"/>
              <a:t>מכילה תאים המפרישים חומר בין-תאי עם סיבים שמקנים גמישות וחוזק.</a:t>
            </a:r>
          </a:p>
          <a:p>
            <a:endParaRPr lang="he-IL" dirty="0"/>
          </a:p>
        </p:txBody>
      </p:sp>
      <p:sp>
        <p:nvSpPr>
          <p:cNvPr id="14" name="מציין מיקום תוכן 3"/>
          <p:cNvSpPr txBox="1">
            <a:spLocks/>
          </p:cNvSpPr>
          <p:nvPr/>
        </p:nvSpPr>
        <p:spPr>
          <a:xfrm>
            <a:off x="7831970" y="2058637"/>
            <a:ext cx="3248196" cy="1022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4000" b="1" dirty="0" smtClean="0"/>
              <a:t>רקמות החיפוי (אפיתל)- </a:t>
            </a:r>
            <a:r>
              <a:rPr lang="he-IL" sz="4000" dirty="0" smtClean="0"/>
              <a:t>מכסות את הגוף מבחוץ, עם שכבת עור הנקראת אפידרמיס.</a:t>
            </a:r>
          </a:p>
          <a:p>
            <a:endParaRPr lang="he-IL" dirty="0"/>
          </a:p>
        </p:txBody>
      </p:sp>
      <p:sp>
        <p:nvSpPr>
          <p:cNvPr id="16" name="מציין מיקום תוכן 3"/>
          <p:cNvSpPr txBox="1">
            <a:spLocks/>
          </p:cNvSpPr>
          <p:nvPr/>
        </p:nvSpPr>
        <p:spPr>
          <a:xfrm>
            <a:off x="1351857" y="528864"/>
            <a:ext cx="9558941" cy="102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sz="4000" dirty="0" smtClean="0"/>
              <a:t>רקמות הגוף.</a:t>
            </a:r>
            <a:endParaRPr lang="he-IL" dirty="0"/>
          </a:p>
        </p:txBody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830" y="1978023"/>
            <a:ext cx="1969140" cy="987676"/>
          </a:xfrm>
          <a:prstGeom prst="rect">
            <a:avLst/>
          </a:prstGeom>
        </p:spPr>
      </p:pic>
      <p:pic>
        <p:nvPicPr>
          <p:cNvPr id="18" name="תמונה 17"/>
          <p:cNvPicPr>
            <a:picLocks noChangeAspect="1"/>
          </p:cNvPicPr>
          <p:nvPr/>
        </p:nvPicPr>
        <p:blipFill rotWithShape="1">
          <a:blip r:embed="rId3"/>
          <a:srcRect l="18936" t="1293" r="15771" b="2991"/>
          <a:stretch/>
        </p:blipFill>
        <p:spPr>
          <a:xfrm>
            <a:off x="3016131" y="2831693"/>
            <a:ext cx="1567643" cy="1583166"/>
          </a:xfrm>
          <a:prstGeom prst="rect">
            <a:avLst/>
          </a:prstGeom>
        </p:spPr>
      </p:pic>
      <p:pic>
        <p:nvPicPr>
          <p:cNvPr id="19" name="תמונה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64" y="4725445"/>
            <a:ext cx="1846806" cy="13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9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ציין מיקום תוכן 3"/>
          <p:cNvSpPr txBox="1">
            <a:spLocks/>
          </p:cNvSpPr>
          <p:nvPr/>
        </p:nvSpPr>
        <p:spPr>
          <a:xfrm>
            <a:off x="4305990" y="3345065"/>
            <a:ext cx="3650673" cy="123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900" b="1" dirty="0"/>
              <a:t>רקמת סחוס- </a:t>
            </a:r>
            <a:r>
              <a:rPr lang="he-IL" sz="1900" dirty="0"/>
              <a:t>היא רקמת חיבור גמישה ומיוחדת המהווה את הרקמה הקשה הראשונה בעובר.</a:t>
            </a:r>
          </a:p>
          <a:p>
            <a:endParaRPr lang="he-IL" dirty="0"/>
          </a:p>
        </p:txBody>
      </p:sp>
      <p:sp>
        <p:nvSpPr>
          <p:cNvPr id="10" name="מציין מיקום תוכן 3"/>
          <p:cNvSpPr txBox="1">
            <a:spLocks/>
          </p:cNvSpPr>
          <p:nvPr/>
        </p:nvSpPr>
        <p:spPr>
          <a:xfrm>
            <a:off x="7689273" y="1741160"/>
            <a:ext cx="3515588" cy="1415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900" b="1" dirty="0"/>
              <a:t>רקמת עצם- </a:t>
            </a:r>
            <a:r>
              <a:rPr lang="he-IL" sz="1900" dirty="0"/>
              <a:t>היא הקשה ביותר בגוף, מורכבת ממים, חומרים אורגניים ומינרלים, ומקנה לגוף יציבות ותנועה.</a:t>
            </a:r>
          </a:p>
          <a:p>
            <a:endParaRPr lang="he-IL" dirty="0"/>
          </a:p>
        </p:txBody>
      </p:sp>
      <p:sp>
        <p:nvSpPr>
          <p:cNvPr id="11" name="מציין מיקום תוכן 3"/>
          <p:cNvSpPr txBox="1">
            <a:spLocks/>
          </p:cNvSpPr>
          <p:nvPr/>
        </p:nvSpPr>
        <p:spPr>
          <a:xfrm>
            <a:off x="7506393" y="4950046"/>
            <a:ext cx="3698468" cy="1109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900" b="1" dirty="0"/>
              <a:t>רקמות השרירים- </a:t>
            </a:r>
            <a:r>
              <a:rPr lang="he-IL" sz="1900" dirty="0"/>
              <a:t>כוללות כ-600 שרירים המהווים כמחצית ממשקל הגוף.</a:t>
            </a:r>
          </a:p>
          <a:p>
            <a:endParaRPr lang="he-IL" dirty="0"/>
          </a:p>
        </p:txBody>
      </p:sp>
      <p:sp>
        <p:nvSpPr>
          <p:cNvPr id="12" name="מציין מיקום תוכן 3"/>
          <p:cNvSpPr txBox="1">
            <a:spLocks/>
          </p:cNvSpPr>
          <p:nvPr/>
        </p:nvSpPr>
        <p:spPr>
          <a:xfrm>
            <a:off x="1351857" y="4950046"/>
            <a:ext cx="3840479" cy="12179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900" b="1" dirty="0"/>
              <a:t>רקמת העצבים- </a:t>
            </a:r>
            <a:r>
              <a:rPr lang="he-IL" sz="1900" dirty="0"/>
              <a:t>יוצרת את מערכת העצבים החשובה, המנווטת את כל פעולות הגוף. מרכזי הפיקוד שלה הם המוח וחוט השדרה. </a:t>
            </a:r>
          </a:p>
          <a:p>
            <a:endParaRPr lang="he-IL" dirty="0"/>
          </a:p>
        </p:txBody>
      </p:sp>
      <p:sp>
        <p:nvSpPr>
          <p:cNvPr id="14" name="מציין מיקום תוכן 3"/>
          <p:cNvSpPr txBox="1">
            <a:spLocks/>
          </p:cNvSpPr>
          <p:nvPr/>
        </p:nvSpPr>
        <p:spPr>
          <a:xfrm>
            <a:off x="1351857" y="528864"/>
            <a:ext cx="9558941" cy="1022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4000" dirty="0" smtClean="0"/>
              <a:t>רקמות הגוף כוללות סוגים שונים של תאים בעלי מבנה ותפקיד קבועים, היוצרים רקמות. רקמות אלו מרכיבות את אברי הגוף השונים.</a:t>
            </a:r>
          </a:p>
          <a:p>
            <a:endParaRPr lang="he-IL" dirty="0"/>
          </a:p>
        </p:txBody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72" y="1740084"/>
            <a:ext cx="2250501" cy="122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2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85176" y="299091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he-IL" sz="66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151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הדם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151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85176" y="1407569"/>
            <a:ext cx="10178322" cy="5300802"/>
          </a:xfrm>
        </p:spPr>
        <p:txBody>
          <a:bodyPr>
            <a:normAutofit/>
          </a:bodyPr>
          <a:lstStyle/>
          <a:p>
            <a:r>
              <a:rPr lang="he-IL" sz="2400" b="1" dirty="0" smtClean="0"/>
              <a:t>רקמת </a:t>
            </a:r>
            <a:r>
              <a:rPr lang="he-IL" sz="2400" b="1" dirty="0"/>
              <a:t>הדם- </a:t>
            </a:r>
            <a:r>
              <a:rPr lang="he-IL" sz="2400" dirty="0"/>
              <a:t>נוזל החיים, מורכב מכשליש תאי דם ושני שליש נוזל</a:t>
            </a:r>
            <a:r>
              <a:rPr lang="he-IL" sz="2400" dirty="0" smtClean="0"/>
              <a:t>.</a:t>
            </a:r>
          </a:p>
          <a:p>
            <a:endParaRPr lang="he-IL" sz="2400" dirty="0"/>
          </a:p>
          <a:p>
            <a:endParaRPr lang="he-IL" sz="2400" dirty="0" smtClean="0"/>
          </a:p>
          <a:p>
            <a:endParaRPr lang="he-IL" sz="2400" dirty="0"/>
          </a:p>
          <a:p>
            <a:endParaRPr lang="he-IL" sz="2400" dirty="0" smtClean="0"/>
          </a:p>
          <a:p>
            <a:endParaRPr lang="he-IL" sz="2400" dirty="0"/>
          </a:p>
          <a:p>
            <a:endParaRPr lang="he-IL" sz="2400" dirty="0" smtClean="0"/>
          </a:p>
          <a:p>
            <a:endParaRPr lang="he-IL" sz="2400" dirty="0"/>
          </a:p>
          <a:p>
            <a:r>
              <a:rPr lang="he-IL" sz="2400" dirty="0" smtClean="0"/>
              <a:t>מערכות המפעילות את הגוף- מערכת הנשימה, מערכת העיכול, מערכת בשתן ומערכת בלוטות.</a:t>
            </a:r>
            <a:endParaRPr lang="he-IL" sz="2400" dirty="0"/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498" y="2057397"/>
            <a:ext cx="2680617" cy="1783829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14" y="2054743"/>
            <a:ext cx="3096719" cy="1778521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700" y="2054743"/>
            <a:ext cx="2571750" cy="1781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9666" y="3891422"/>
            <a:ext cx="284181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כלי הדם- </a:t>
            </a:r>
            <a:endParaRPr lang="he-IL" b="1" dirty="0" smtClean="0"/>
          </a:p>
          <a:p>
            <a:pPr algn="ctr"/>
            <a:r>
              <a:rPr lang="he-IL" dirty="0" smtClean="0"/>
              <a:t>קיימים </a:t>
            </a:r>
            <a:r>
              <a:rPr lang="he-IL" dirty="0"/>
              <a:t>שלושה סוגים עיקריים של כלי הדם ואלה הם</a:t>
            </a:r>
            <a:r>
              <a:rPr lang="he-IL" dirty="0" smtClean="0"/>
              <a:t>: העורקים</a:t>
            </a:r>
            <a:r>
              <a:rPr lang="he-IL" dirty="0"/>
              <a:t>, הנימים והוורידים.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82" y="3890889"/>
            <a:ext cx="2230582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כדוריות דם לבנות- </a:t>
            </a:r>
            <a:r>
              <a:rPr lang="he-IL" dirty="0"/>
              <a:t>תפקידם להשמיד חיידקים, נגיפים ושאר גורמי זיהום </a:t>
            </a:r>
            <a:r>
              <a:rPr lang="he-IL" dirty="0" smtClean="0"/>
              <a:t>בגופנו. </a:t>
            </a:r>
            <a:endParaRPr lang="he-IL" dirty="0"/>
          </a:p>
        </p:txBody>
      </p:sp>
      <p:sp>
        <p:nvSpPr>
          <p:cNvPr id="9" name="TextBox 8"/>
          <p:cNvSpPr txBox="1"/>
          <p:nvPr/>
        </p:nvSpPr>
        <p:spPr>
          <a:xfrm>
            <a:off x="8729866" y="4029389"/>
            <a:ext cx="208788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כדוריות דם אדומות- </a:t>
            </a:r>
            <a:r>
              <a:rPr lang="he-IL" dirty="0"/>
              <a:t>תפקידם להעביר חמצן לתאים.</a:t>
            </a:r>
          </a:p>
        </p:txBody>
      </p:sp>
    </p:spTree>
    <p:extLst>
      <p:ext uri="{BB962C8B-B14F-4D97-AF65-F5344CB8AC3E}">
        <p14:creationId xmlns:p14="http://schemas.microsoft.com/office/powerpoint/2010/main" val="2243816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51678" y="523701"/>
            <a:ext cx="10178322" cy="1492132"/>
          </a:xfrm>
        </p:spPr>
        <p:txBody>
          <a:bodyPr/>
          <a:lstStyle/>
          <a:p>
            <a:pPr algn="r"/>
            <a:r>
              <a:rPr lang="he-IL" dirty="0" smtClean="0"/>
              <a:t>שאלות חזרה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sz="2400" dirty="0"/>
              <a:t>1</a:t>
            </a:r>
            <a:r>
              <a:rPr lang="he-IL" sz="2400" dirty="0" smtClean="0"/>
              <a:t>. </a:t>
            </a:r>
            <a:r>
              <a:rPr lang="he-IL" sz="2400" dirty="0"/>
              <a:t>תאר את מבנה </a:t>
            </a:r>
            <a:r>
              <a:rPr lang="he-IL" sz="2400" dirty="0" smtClean="0"/>
              <a:t>התא? </a:t>
            </a:r>
          </a:p>
          <a:p>
            <a:pPr marL="0" indent="0">
              <a:buNone/>
            </a:pPr>
            <a:r>
              <a:rPr lang="he-IL" sz="2400" dirty="0"/>
              <a:t>2</a:t>
            </a:r>
            <a:r>
              <a:rPr lang="he-IL" sz="2400" dirty="0" smtClean="0"/>
              <a:t>. </a:t>
            </a:r>
            <a:r>
              <a:rPr lang="he-IL" sz="2400" dirty="0"/>
              <a:t>מהם שלבי חלוקת התא</a:t>
            </a:r>
            <a:r>
              <a:rPr lang="he-IL" sz="2400" dirty="0" smtClean="0"/>
              <a:t>?</a:t>
            </a:r>
          </a:p>
          <a:p>
            <a:pPr marL="0" indent="0">
              <a:buNone/>
            </a:pPr>
            <a:r>
              <a:rPr lang="he-IL" sz="2400" dirty="0"/>
              <a:t>3</a:t>
            </a:r>
            <a:r>
              <a:rPr lang="he-IL" sz="2400" dirty="0" smtClean="0"/>
              <a:t>. </a:t>
            </a:r>
            <a:r>
              <a:rPr lang="he-IL" sz="2400" dirty="0"/>
              <a:t>מהו ההבדל בין מיוזה למיטוזה</a:t>
            </a:r>
            <a:r>
              <a:rPr lang="he-IL" sz="2400" dirty="0" smtClean="0"/>
              <a:t>?</a:t>
            </a:r>
          </a:p>
          <a:p>
            <a:pPr marL="0" indent="0">
              <a:buNone/>
            </a:pPr>
            <a:r>
              <a:rPr lang="he-IL" sz="2400" dirty="0"/>
              <a:t>4</a:t>
            </a:r>
            <a:r>
              <a:rPr lang="he-IL" sz="2400" dirty="0" smtClean="0"/>
              <a:t>. </a:t>
            </a:r>
            <a:r>
              <a:rPr lang="he-IL" sz="2400" dirty="0"/>
              <a:t>אילו סוגי רקמות הנך מכיר</a:t>
            </a:r>
            <a:r>
              <a:rPr lang="he-IL" sz="2400" dirty="0" smtClean="0"/>
              <a:t>?</a:t>
            </a:r>
          </a:p>
          <a:p>
            <a:pPr marL="0" indent="0">
              <a:buNone/>
            </a:pPr>
            <a:r>
              <a:rPr lang="he-IL" sz="2400" dirty="0"/>
              <a:t>5</a:t>
            </a:r>
            <a:r>
              <a:rPr lang="he-IL" sz="2400" dirty="0" smtClean="0"/>
              <a:t>. </a:t>
            </a:r>
            <a:r>
              <a:rPr lang="he-IL" sz="2400" dirty="0"/>
              <a:t>ממה מורכב </a:t>
            </a:r>
            <a:r>
              <a:rPr lang="he-IL" sz="2400" dirty="0" smtClean="0"/>
              <a:t>הדם?</a:t>
            </a:r>
          </a:p>
          <a:p>
            <a:pPr marL="0" indent="0">
              <a:buNone/>
            </a:pPr>
            <a:r>
              <a:rPr lang="he-IL" sz="2400" dirty="0" smtClean="0"/>
              <a:t>6. </a:t>
            </a:r>
            <a:r>
              <a:rPr lang="he-IL" sz="2400" dirty="0"/>
              <a:t>פרט את סוגי רקמות המשען?</a:t>
            </a:r>
          </a:p>
        </p:txBody>
      </p:sp>
    </p:spTree>
    <p:extLst>
      <p:ext uri="{BB962C8B-B14F-4D97-AF65-F5344CB8AC3E}">
        <p14:creationId xmlns:p14="http://schemas.microsoft.com/office/powerpoint/2010/main" val="177741595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TM10001106[[fn=תג]]</Template>
  <TotalTime>156</TotalTime>
  <Words>511</Words>
  <Application>Microsoft Office PowerPoint</Application>
  <PresentationFormat>מסך רחב</PresentationFormat>
  <Paragraphs>53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מבנה התא</vt:lpstr>
      <vt:lpstr>מטרות יחידת הלימוד</vt:lpstr>
      <vt:lpstr> התא </vt:lpstr>
      <vt:lpstr>חלקי התא. </vt:lpstr>
      <vt:lpstr>תהליכים חיוניים בתא.</vt:lpstr>
      <vt:lpstr>מצגת של PowerPoint‏</vt:lpstr>
      <vt:lpstr>מצגת של PowerPoint‏</vt:lpstr>
      <vt:lpstr>הדם</vt:lpstr>
      <vt:lpstr>שאלות חזרה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מבנה התא</dc:title>
  <dc:creator>User</dc:creator>
  <cp:lastModifiedBy>User</cp:lastModifiedBy>
  <cp:revision>14</cp:revision>
  <dcterms:created xsi:type="dcterms:W3CDTF">2024-05-15T06:13:08Z</dcterms:created>
  <dcterms:modified xsi:type="dcterms:W3CDTF">2024-05-15T08:53:29Z</dcterms:modified>
</cp:coreProperties>
</file>